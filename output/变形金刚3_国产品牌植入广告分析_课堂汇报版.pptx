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10a60437f24586" /><Relationship Type="http://schemas.openxmlformats.org/officeDocument/2006/relationships/extended-properties" Target="/docProps/app.xml" Id="Rc92887c59e354500" /><Relationship Type="http://schemas.openxmlformats.org/officeDocument/2006/relationships/officeDocument" Target="/ppt/presentation.xml" Id="R7c52105260dd4ac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35bbe4948304c31"/>
  </p:sldMasterIdLst>
  <p:notesMasterIdLst>
    <p:notesMasterId xmlns:r="http://schemas.openxmlformats.org/officeDocument/2006/relationships" r:id="R3fccb1bd3d594233"/>
  </p:notesMasterIdLst>
  <p:sldIdLst>
    <p:sldId xmlns:r="http://schemas.openxmlformats.org/officeDocument/2006/relationships" id="256" r:id="Rbe9ff606e2c541f3"/>
    <p:sldId xmlns:r="http://schemas.openxmlformats.org/officeDocument/2006/relationships" id="257" r:id="R198145727d4d4c6b"/>
    <p:sldId xmlns:r="http://schemas.openxmlformats.org/officeDocument/2006/relationships" id="258" r:id="R52e65b4c6a134625"/>
    <p:sldId xmlns:r="http://schemas.openxmlformats.org/officeDocument/2006/relationships" id="259" r:id="R096d333da17144d1"/>
    <p:sldId xmlns:r="http://schemas.openxmlformats.org/officeDocument/2006/relationships" id="260" r:id="R07364fe199774b1d"/>
    <p:sldId xmlns:r="http://schemas.openxmlformats.org/officeDocument/2006/relationships" id="261" r:id="Re74f83dcb8904265"/>
  </p:sldIdLst>
  <p:sldSz cx="12192000" cy="6858000"/>
  <p:notesSz cx="6858000" cy="9144000"/>
  <p:embeddedFontLst>
    <p:embeddedFont>
      <p:font typeface="Inter"/>
      <p:regular xmlns:r="http://schemas.openxmlformats.org/officeDocument/2006/relationships" r:id="R4f00831a487a4510"/>
      <p:bold xmlns:r="http://schemas.openxmlformats.org/officeDocument/2006/relationships" r:id="Raca37bc803824320"/>
    </p:embeddedFont>
    <p:embeddedFont>
      <p:font typeface="Inter Medium"/>
      <p:regular xmlns:r="http://schemas.openxmlformats.org/officeDocument/2006/relationships" r:id="Rac79e6a03d87414e"/>
    </p:embeddedFont>
    <p:embeddedFont>
      <p:font typeface="Inter SemiBold"/>
      <p:regular xmlns:r="http://schemas.openxmlformats.org/officeDocument/2006/relationships" r:id="R5bf9a03071ff459e"/>
      <p:bold xmlns:r="http://schemas.openxmlformats.org/officeDocument/2006/relationships" r:id="R35200c4b98954eba"/>
    </p:embeddedFont>
    <p:embeddedFont>
      <p:font typeface="OpenAI Sans"/>
      <p:regular xmlns:r="http://schemas.openxmlformats.org/officeDocument/2006/relationships" r:id="Rb547a18189fe4ebc"/>
      <p:bold xmlns:r="http://schemas.openxmlformats.org/officeDocument/2006/relationships" r:id="R11e317672fbc45be"/>
      <p:italic xmlns:r="http://schemas.openxmlformats.org/officeDocument/2006/relationships" r:id="R2cd8e9dfa4854c50"/>
      <p:boldItalic xmlns:r="http://schemas.openxmlformats.org/officeDocument/2006/relationships" r:id="R60f367e059f643a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2795900c4c433f" /><Relationship Type="http://schemas.openxmlformats.org/officeDocument/2006/relationships/slideMaster" Target="/ppt/slideMasters/slideMaster1.xml" Id="R835bbe4948304c31" /><Relationship Type="http://schemas.openxmlformats.org/officeDocument/2006/relationships/notesMaster" Target="/ppt/notesMasters/notesMaster1.xml" Id="R3fccb1bd3d594233" /><Relationship Type="http://schemas.openxmlformats.org/officeDocument/2006/relationships/presProps" Target="/ppt/presProps.xml" Id="R8af93d8c796a456f" /><Relationship Type="http://schemas.openxmlformats.org/officeDocument/2006/relationships/viewProps" Target="/ppt/viewProps.xml" Id="R0b5c4b2ec52a4809" /><Relationship Type="http://schemas.openxmlformats.org/officeDocument/2006/relationships/tableStyles" Target="/ppt/tableStyles.xml" Id="R89777bab9d394717" /><Relationship Type="http://schemas.openxmlformats.org/officeDocument/2006/relationships/font" Target="/ppt/fonts/font.dat" Id="R4f00831a487a4510" /><Relationship Type="http://schemas.openxmlformats.org/officeDocument/2006/relationships/font" Target="/ppt/fonts/font2.dat" Id="Raca37bc803824320" /><Relationship Type="http://schemas.openxmlformats.org/officeDocument/2006/relationships/font" Target="/ppt/fonts/font3.dat" Id="Rac79e6a03d87414e" /><Relationship Type="http://schemas.openxmlformats.org/officeDocument/2006/relationships/font" Target="/ppt/fonts/font4.dat" Id="R5bf9a03071ff459e" /><Relationship Type="http://schemas.openxmlformats.org/officeDocument/2006/relationships/font" Target="/ppt/fonts/font5.dat" Id="R35200c4b98954eba" /><Relationship Type="http://schemas.openxmlformats.org/officeDocument/2006/relationships/font" Target="/ppt/fonts/font6.dat" Id="Rb547a18189fe4ebc" /><Relationship Type="http://schemas.openxmlformats.org/officeDocument/2006/relationships/font" Target="/ppt/fonts/font7.dat" Id="R11e317672fbc45be" /><Relationship Type="http://schemas.openxmlformats.org/officeDocument/2006/relationships/font" Target="/ppt/fonts/font8.dat" Id="R2cd8e9dfa4854c50" /><Relationship Type="http://schemas.openxmlformats.org/officeDocument/2006/relationships/font" Target="/ppt/fonts/font9.dat" Id="R60f367e059f643ab" /><Relationship Type="http://schemas.openxmlformats.org/officeDocument/2006/relationships/slide" Target="/ppt/slides/slide1.xml" Id="Rbe9ff606e2c541f3" /><Relationship Type="http://schemas.openxmlformats.org/officeDocument/2006/relationships/slide" Target="/ppt/slides/slide2.xml" Id="R198145727d4d4c6b" /><Relationship Type="http://schemas.openxmlformats.org/officeDocument/2006/relationships/slide" Target="/ppt/slides/slide3.xml" Id="R52e65b4c6a134625" /><Relationship Type="http://schemas.openxmlformats.org/officeDocument/2006/relationships/slide" Target="/ppt/slides/slide4.xml" Id="R096d333da17144d1" /><Relationship Type="http://schemas.openxmlformats.org/officeDocument/2006/relationships/slide" Target="/ppt/slides/slide5.xml" Id="R07364fe199774b1d" /><Relationship Type="http://schemas.openxmlformats.org/officeDocument/2006/relationships/slide" Target="/ppt/slides/slide6.xml" Id="Re74f83dcb89042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898a44fd7345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a6f0a8e1ed4470" /><Relationship Type="http://schemas.openxmlformats.org/officeDocument/2006/relationships/notesMaster" Target="/ppt/notesMasters/notesMaster1.xml" Id="Ra59b8d358eb747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05422ee137410b" /><Relationship Type="http://schemas.openxmlformats.org/officeDocument/2006/relationships/notesMaster" Target="/ppt/notesMasters/notesMaster1.xml" Id="Rde95001ab4b149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2c1ad25c134b86" /><Relationship Type="http://schemas.openxmlformats.org/officeDocument/2006/relationships/notesMaster" Target="/ppt/notesMasters/notesMaster1.xml" Id="R8f128c4d74d341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152e1ddaa04ab6" /><Relationship Type="http://schemas.openxmlformats.org/officeDocument/2006/relationships/notesMaster" Target="/ppt/notesMasters/notesMaster1.xml" Id="R0ab9a48f2e4341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f4f329e0854d42" /><Relationship Type="http://schemas.openxmlformats.org/officeDocument/2006/relationships/notesMaster" Target="/ppt/notesMasters/notesMaster1.xml" Id="Rdd5d08609e0f49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e4c8a79d544a04" /><Relationship Type="http://schemas.openxmlformats.org/officeDocument/2006/relationships/notesMaster" Target="/ppt/notesMasters/notesMaster1.xml" Id="R3632604d6f0a4d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内容依据：用户提供的作业题目与六页文稿。封面配图为 OpenAI ImageGen 生成的原创概念图，不是电影剧照或真实产品图。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内容依据：用户提供文稿。右侧配图为 OpenAI ImageGen 生成的原创概念图，不是电影剧照或真实产品图。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内容依据：用户提供文稿。分类用于比较四个品牌的植入方式与叙事融合深度。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内容依据：用户提供文稿。优势从传播范围、植入形式、二次讨论和受众匹配四个方面归纳。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内容依据：用户提供文稿。争议集中在叙事干扰、曝光不均、品牌好感和文化适配。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内容依据：用户提供文稿。结论强调可见度、自然度与叙事适配之间的平衡。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bfdc6b8cf44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c3d08cbe743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d1148817243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d61d2d1e042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39f1415fa49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488e005214d1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ad87c8200495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ee31447c1407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826c98831e40e2" /><Relationship Type="http://schemas.openxmlformats.org/officeDocument/2006/relationships/slideLayout" Target="/ppt/slideLayouts/slideLayout1.xml" Id="R84afd3c67d084d4b" /><Relationship Type="http://schemas.openxmlformats.org/officeDocument/2006/relationships/slideLayout" Target="/ppt/slideLayouts/slideLayout2.xml" Id="R3a4813c58212463a" /><Relationship Type="http://schemas.openxmlformats.org/officeDocument/2006/relationships/slideLayout" Target="/ppt/slideLayouts/slideLayout3.xml" Id="Re2042ad7d6484dd4" /><Relationship Type="http://schemas.openxmlformats.org/officeDocument/2006/relationships/slideLayout" Target="/ppt/slideLayouts/slideLayout4.xml" Id="Rb20d48c917cf411e" /><Relationship Type="http://schemas.openxmlformats.org/officeDocument/2006/relationships/slideLayout" Target="/ppt/slideLayouts/slideLayout5.xml" Id="R7671ec3c69454691" /><Relationship Type="http://schemas.openxmlformats.org/officeDocument/2006/relationships/slideLayout" Target="/ppt/slideLayouts/slideLayout6.xml" Id="Rccd71dd94841465d" /><Relationship Type="http://schemas.openxmlformats.org/officeDocument/2006/relationships/slideLayout" Target="/ppt/slideLayouts/slideLayout7.xml" Id="R6ce8f0a09221400c" /><Relationship Type="http://schemas.openxmlformats.org/officeDocument/2006/relationships/slideLayout" Target="/ppt/slideLayouts/slideLayout8.xml" Id="Rcc2d373b4a254e0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afd3c67d084d4b"/>
    <p:sldLayoutId xmlns:r="http://schemas.openxmlformats.org/officeDocument/2006/relationships" id="2147483650" r:id="R3a4813c58212463a"/>
    <p:sldLayoutId xmlns:r="http://schemas.openxmlformats.org/officeDocument/2006/relationships" id="2147483651" r:id="Re2042ad7d6484dd4"/>
    <p:sldLayoutId xmlns:r="http://schemas.openxmlformats.org/officeDocument/2006/relationships" id="2147483652" r:id="Rb20d48c917cf411e"/>
    <p:sldLayoutId xmlns:r="http://schemas.openxmlformats.org/officeDocument/2006/relationships" id="2147483653" r:id="R7671ec3c69454691"/>
    <p:sldLayoutId xmlns:r="http://schemas.openxmlformats.org/officeDocument/2006/relationships" id="2147483654" r:id="Rccd71dd94841465d"/>
    <p:sldLayoutId xmlns:r="http://schemas.openxmlformats.org/officeDocument/2006/relationships" id="2147483655" r:id="R6ce8f0a09221400c"/>
    <p:sldLayoutId xmlns:r="http://schemas.openxmlformats.org/officeDocument/2006/relationships" id="2147483656" r:id="Rcc2d373b4a254e0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7126b1d4a4a0e" /><Relationship Type="http://schemas.openxmlformats.org/officeDocument/2006/relationships/image" Target="/ppt/media/image.png" Id="R815f01e629914b55" /><Relationship Type="http://schemas.openxmlformats.org/officeDocument/2006/relationships/notesSlide" Target="/ppt/notesSlides/notesSlide1.xml" Id="R9d94f3b0649045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11fb4e9d9c4ab9" /><Relationship Type="http://schemas.openxmlformats.org/officeDocument/2006/relationships/image" Target="/ppt/media/image2.png" Id="Re5557af904aa4578" /><Relationship Type="http://schemas.openxmlformats.org/officeDocument/2006/relationships/notesSlide" Target="/ppt/notesSlides/notesSlide2.xml" Id="R015d947fe7ed4f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8d96a407c4b1d" /><Relationship Type="http://schemas.openxmlformats.org/officeDocument/2006/relationships/notesSlide" Target="/ppt/notesSlides/notesSlide3.xml" Id="R7c8131510b8a46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7be3e55d44402f" /><Relationship Type="http://schemas.openxmlformats.org/officeDocument/2006/relationships/notesSlide" Target="/ppt/notesSlides/notesSlide4.xml" Id="R95d729043c6046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78168d029486b" /><Relationship Type="http://schemas.openxmlformats.org/officeDocument/2006/relationships/notesSlide" Target="/ppt/notesSlides/notesSlide5.xml" Id="R9bc09373f9f545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0e318c2cb4386" /><Relationship Type="http://schemas.openxmlformats.org/officeDocument/2006/relationships/notesSlide" Target="/ppt/notesSlides/notesSlide6.xml" Id="Red0883897f5743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f01e629914b5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CBCD5-8708-4E1B-ACAB-01788383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019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94D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广告学案例分析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2211B-EBB0-414D-A3EA-F70355C2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191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390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《变形金刚3》
中国品牌植入广告分析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F264D-2A65-48B5-9C99-8484ED23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70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美特斯·邦威  ·  伊利舒化奶  ·  TCL  ·  联想
姓名：________    课程：广告学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案例背景</a:t>
            </a:r>
          </a:p>
        </p:txBody>
      </p:sp>
      <p:pic>
        <p:nvPicPr>
          <p:cNvPr id="5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57af904aa4578"/>
          <a:srcRect xmlns:a="http://schemas.openxmlformats.org/drawingml/2006/main" l="0" t="9536" r="0" b="9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CF1D70C-582A-48D1-9C0F-D8FAD021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9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好莱坞大片中的中国品牌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《变形金刚3》拥有全球受众。影片集中出现四个中国品牌，使商业植入本身成为观影话题。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8CF79BF-AC8D-4E74-9F35-22D47A0A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9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从曝光走向争议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2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品牌通过服装、饮品和电子设备进入场景。部分观众甚至“记住牛奶、忘了剧情”，说明记忆度与好感度并不等同。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四个品牌的植入方式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9379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电脑道具多次展示标识。小机器人变形为新款笔记本，属于道具加轻度剧情植入。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联想 Lenovo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9379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男女主角穿品牌T恤出镜较久。标识较弱，属于隐蔽式服装道具植入。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美特斯·邦威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3D电视作为室内场景道具。镜头停留较短，曝光方式较为含蓄。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TCL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9379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28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角色直接拿起并展示饮品。镜头清晰但转折突兀，属于显性道具植入。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145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伊利舒化奶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2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90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同一部电影中，四个品牌采用了不同的融合深度。
判断植入质量，需要同时观察可见度、剧情关联和观影干扰。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优势与可取之处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26178-C752-42AD-9124-FF688C9A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大片IP放大知名度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借助全球发行和成熟类型片，品牌获得国际化联想，也提升国内曝光。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A5033-AB0E-4D13-BF67-70BEF5A0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2000"/>
            <a:ext cx="5537200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形式覆盖多种层级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服装、饮品、电子设备和轻度剧情融合，为国产品牌合作提供了早期参考。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678E3-2B5C-4E25-B441-33F61A53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话题带来二次传播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舒化奶的突兀感引发调侃，社交讨论继续扩大品牌记忆。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E8DF0-A3B8-4E4E-91FD-38A31F69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受众与品牌客群相近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影片核心观众偏年轻，与服装、数码和消费品目标人群有较高重合。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问题与争议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B6D51-0299-437E-B10A-851F572C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曝光压过叙事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舒化奶等镜头缺少人物动机支撑，容易打断观影沉浸。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48D24-1BCB-4F17-9129-60B594E8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2000"/>
            <a:ext cx="5537200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品牌效果不均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联想兼有剧情和标识，邦威与TCL则过于隐蔽，识别度差异明显。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1E459-A905-40ED-AFF4-EF869898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记忆不等于好感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“只记得牛奶”说明品牌被看见，也可能伴随广告打扰感。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7F7DF-D62F-4957-91C3-A75AB605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600"/>
              </a:spcAft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文化适配不足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45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中国品牌进入美式叙事时，若缺少自然使用场景，容易显得生硬。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8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2800" b="1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总结与启示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b="1">
                <a:solidFill>
                  <a:srgbClr val="B7F34A"/>
                </a:solidFill>
                <a:latin typeface="Noto Sans SC"/>
                <a:ea typeface="Noto Sans SC"/>
                <a:cs typeface="Noto Sans SC"/>
              </a:defRPr>
            </a:pPr>
            <a:r>
              <a:rPr sz="2500" b="1">
                <a:solidFill>
                  <a:srgbClr val="B7F34A"/>
                </a:solidFill>
                <a:latin typeface="Noto Sans SC"/>
                <a:ea typeface="Noto Sans SC"/>
                <a:cs typeface="Noto Sans SC"/>
              </a:rPr>
              <a:t>植入效果的关键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06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b="0">
                <a:solidFill>
                  <a:srgbClr val="F4F8F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4F8F4"/>
                </a:solidFill>
                <a:latin typeface="Noto Sans SC"/>
                <a:ea typeface="Noto Sans SC"/>
                <a:cs typeface="Noto Sans SC"/>
              </a:rPr>
              <a:t>《变形金刚3》让国产品牌进入国际大片视野，也暴露了早期植入广告偏重曝光的问题。
好的植入需要让产品功能、角色行为与故事逻辑互相支持。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929E68B-FE71-45BF-A49B-F81D1DAB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450"/>
              </a:spcAft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850" b="1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可见度与自然度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350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太隐蔽无法传达品牌，太直白容易引发抵触。镜头既要服务剧情，也要让品牌可识别。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FC0EF2B-195E-47F5-862E-A4E59A3B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450"/>
              </a:spcAft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850" b="1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叙事适配优先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>
                <a:solidFill>
                  <a:srgbClr val="C8D5CE"/>
                </a:solidFill>
                <a:latin typeface="Noto Sans SC"/>
                <a:ea typeface="Noto Sans SC"/>
                <a:cs typeface="Noto Sans SC"/>
              </a:defRPr>
            </a:pPr>
            <a:r>
              <a:rPr sz="1350">
                <a:solidFill>
                  <a:srgbClr val="C8D5CE"/>
                </a:solidFill>
                <a:latin typeface="Noto Sans SC"/>
                <a:ea typeface="Noto Sans SC"/>
                <a:cs typeface="Noto Sans SC"/>
              </a:rPr>
              <a:t>选择大片前，应判断产品能否自然进入角色生活和场景，而不是只依靠高流量IP。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2026-09-15T11:43:42.8450000Z</dcterms:created>
  <dcterms:modified xsi:type="dcterms:W3CDTF">2026-09-15T11:43:42.8460000Z</dcterms:modified>
</coreProperties>
</file>