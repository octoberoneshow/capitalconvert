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59a9196cb4b19" /><Relationship Type="http://schemas.openxmlformats.org/officeDocument/2006/relationships/extended-properties" Target="/docProps/app.xml" Id="R151874e52db2447b" /><Relationship Type="http://schemas.openxmlformats.org/officeDocument/2006/relationships/officeDocument" Target="/ppt/presentation.xml" Id="R08399158344d4c1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aee79e388b845f9"/>
  </p:sldMasterIdLst>
  <p:notesMasterIdLst>
    <p:notesMasterId xmlns:r="http://schemas.openxmlformats.org/officeDocument/2006/relationships" r:id="R47bc79954bd44059"/>
  </p:notesMasterIdLst>
  <p:sldIdLst>
    <p:sldId xmlns:r="http://schemas.openxmlformats.org/officeDocument/2006/relationships" id="256" r:id="Rc5f92b3f44614ef5"/>
    <p:sldId xmlns:r="http://schemas.openxmlformats.org/officeDocument/2006/relationships" id="257" r:id="R217a82c56d794b91"/>
    <p:sldId xmlns:r="http://schemas.openxmlformats.org/officeDocument/2006/relationships" id="258" r:id="R528a994e09924c15"/>
    <p:sldId xmlns:r="http://schemas.openxmlformats.org/officeDocument/2006/relationships" id="259" r:id="R491223a5cf014fe7"/>
    <p:sldId xmlns:r="http://schemas.openxmlformats.org/officeDocument/2006/relationships" id="260" r:id="R7eaf4ecb64314fa8"/>
    <p:sldId xmlns:r="http://schemas.openxmlformats.org/officeDocument/2006/relationships" id="261" r:id="Rf2a1d34548e34589"/>
  </p:sldIdLst>
  <p:sldSz cx="12192000" cy="6858000"/>
  <p:notesSz cx="6858000" cy="9144000"/>
  <p:embeddedFontLst>
    <p:embeddedFont>
      <p:font typeface="Inter"/>
      <p:regular xmlns:r="http://schemas.openxmlformats.org/officeDocument/2006/relationships" r:id="Rdedaee95b03a4862"/>
      <p:bold xmlns:r="http://schemas.openxmlformats.org/officeDocument/2006/relationships" r:id="R136005a153f34980"/>
    </p:embeddedFont>
    <p:embeddedFont>
      <p:font typeface="Inter Medium"/>
      <p:regular xmlns:r="http://schemas.openxmlformats.org/officeDocument/2006/relationships" r:id="R432cfb4240604799"/>
    </p:embeddedFont>
    <p:embeddedFont>
      <p:font typeface="Inter SemiBold"/>
      <p:regular xmlns:r="http://schemas.openxmlformats.org/officeDocument/2006/relationships" r:id="R98337073798f4eab"/>
      <p:bold xmlns:r="http://schemas.openxmlformats.org/officeDocument/2006/relationships" r:id="Rdf5af4814fed4b8f"/>
    </p:embeddedFont>
    <p:embeddedFont>
      <p:font typeface="OpenAI Sans"/>
      <p:regular xmlns:r="http://schemas.openxmlformats.org/officeDocument/2006/relationships" r:id="Rb2770042efad4558"/>
      <p:bold xmlns:r="http://schemas.openxmlformats.org/officeDocument/2006/relationships" r:id="Rfc4728ad79d64e37"/>
      <p:italic xmlns:r="http://schemas.openxmlformats.org/officeDocument/2006/relationships" r:id="R11810bb520b842e1"/>
      <p:boldItalic xmlns:r="http://schemas.openxmlformats.org/officeDocument/2006/relationships" r:id="R52e456f8986247e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4599755554efa" /><Relationship Type="http://schemas.openxmlformats.org/officeDocument/2006/relationships/slideMaster" Target="/ppt/slideMasters/slideMaster1.xml" Id="R4aee79e388b845f9" /><Relationship Type="http://schemas.openxmlformats.org/officeDocument/2006/relationships/notesMaster" Target="/ppt/notesMasters/notesMaster1.xml" Id="R47bc79954bd44059" /><Relationship Type="http://schemas.openxmlformats.org/officeDocument/2006/relationships/presProps" Target="/ppt/presProps.xml" Id="Rc43cd535ba394cfc" /><Relationship Type="http://schemas.openxmlformats.org/officeDocument/2006/relationships/viewProps" Target="/ppt/viewProps.xml" Id="R415df324e807473c" /><Relationship Type="http://schemas.openxmlformats.org/officeDocument/2006/relationships/tableStyles" Target="/ppt/tableStyles.xml" Id="Red89f4f92a1e433d" /><Relationship Type="http://schemas.openxmlformats.org/officeDocument/2006/relationships/font" Target="/ppt/fonts/font.dat" Id="Rdedaee95b03a4862" /><Relationship Type="http://schemas.openxmlformats.org/officeDocument/2006/relationships/font" Target="/ppt/fonts/font2.dat" Id="R136005a153f34980" /><Relationship Type="http://schemas.openxmlformats.org/officeDocument/2006/relationships/font" Target="/ppt/fonts/font3.dat" Id="R432cfb4240604799" /><Relationship Type="http://schemas.openxmlformats.org/officeDocument/2006/relationships/font" Target="/ppt/fonts/font4.dat" Id="R98337073798f4eab" /><Relationship Type="http://schemas.openxmlformats.org/officeDocument/2006/relationships/font" Target="/ppt/fonts/font5.dat" Id="Rdf5af4814fed4b8f" /><Relationship Type="http://schemas.openxmlformats.org/officeDocument/2006/relationships/font" Target="/ppt/fonts/font6.dat" Id="Rb2770042efad4558" /><Relationship Type="http://schemas.openxmlformats.org/officeDocument/2006/relationships/font" Target="/ppt/fonts/font7.dat" Id="Rfc4728ad79d64e37" /><Relationship Type="http://schemas.openxmlformats.org/officeDocument/2006/relationships/font" Target="/ppt/fonts/font8.dat" Id="R11810bb520b842e1" /><Relationship Type="http://schemas.openxmlformats.org/officeDocument/2006/relationships/font" Target="/ppt/fonts/font9.dat" Id="R52e456f8986247e2" /><Relationship Type="http://schemas.openxmlformats.org/officeDocument/2006/relationships/slide" Target="/ppt/slides/slide1.xml" Id="Rc5f92b3f44614ef5" /><Relationship Type="http://schemas.openxmlformats.org/officeDocument/2006/relationships/slide" Target="/ppt/slides/slide2.xml" Id="R217a82c56d794b91" /><Relationship Type="http://schemas.openxmlformats.org/officeDocument/2006/relationships/slide" Target="/ppt/slides/slide3.xml" Id="R528a994e09924c15" /><Relationship Type="http://schemas.openxmlformats.org/officeDocument/2006/relationships/slide" Target="/ppt/slides/slide4.xml" Id="R491223a5cf014fe7" /><Relationship Type="http://schemas.openxmlformats.org/officeDocument/2006/relationships/slide" Target="/ppt/slides/slide5.xml" Id="R7eaf4ecb64314fa8" /><Relationship Type="http://schemas.openxmlformats.org/officeDocument/2006/relationships/slide" Target="/ppt/slides/slide6.xml" Id="Rf2a1d34548e345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2c8740c30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026e1f2b04a6b" /><Relationship Type="http://schemas.openxmlformats.org/officeDocument/2006/relationships/notesMaster" Target="/ppt/notesMasters/notesMaster1.xml" Id="R4c4ffe33846549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7430c93b0d4a6e" /><Relationship Type="http://schemas.openxmlformats.org/officeDocument/2006/relationships/notesMaster" Target="/ppt/notesMasters/notesMaster1.xml" Id="R3471c234eb52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9a2f3979d4b56" /><Relationship Type="http://schemas.openxmlformats.org/officeDocument/2006/relationships/notesMaster" Target="/ppt/notesMasters/notesMaster1.xml" Id="R276dffa5a0614c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64eff364844ad" /><Relationship Type="http://schemas.openxmlformats.org/officeDocument/2006/relationships/notesMaster" Target="/ppt/notesMasters/notesMaster1.xml" Id="R47a3d1fd432c41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397419a4f54ca4" /><Relationship Type="http://schemas.openxmlformats.org/officeDocument/2006/relationships/notesMaster" Target="/ppt/notesMasters/notesMaster1.xml" Id="R9ed15f451a5f4e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7e0629ef54dfc" /><Relationship Type="http://schemas.openxmlformats.org/officeDocument/2006/relationships/notesMaster" Target="/ppt/notesMasters/notesMaster1.xml" Id="R6cb4206a3d6f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内容依据：用户提供的作业题目与六页文稿。封面配图为 OpenAI ImageGen 生成的原创概念图，不是电影剧照或真实产品图。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内容依据：用户提供文稿。右侧配图为 OpenAI ImageGen 生成的原创概念图，不是电影剧照或真实产品图。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内容依据：用户提供文稿。分类用于比较四个品牌的植入方式与叙事融合深度。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内容依据：用户提供文稿。优势从传播范围、植入形式、二次讨论和受众匹配四个方面归纳。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内容依据：用户提供文稿。争议集中在叙事干扰、曝光不均、品牌好感和文化适配。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内容依据：用户提供文稿。结论强调可见度、自然度与叙事适配之间的平衡。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0cf8f8a6443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45e82706c4c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8e4f198804f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8b375dde9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a12382be64b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17355c25a4ae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20f6c98f346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b9687f2384bb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aa241a0aa4b2d" /><Relationship Type="http://schemas.openxmlformats.org/officeDocument/2006/relationships/slideLayout" Target="/ppt/slideLayouts/slideLayout1.xml" Id="Ra1bde68956964d1c" /><Relationship Type="http://schemas.openxmlformats.org/officeDocument/2006/relationships/slideLayout" Target="/ppt/slideLayouts/slideLayout2.xml" Id="R6cea8515a05f4d64" /><Relationship Type="http://schemas.openxmlformats.org/officeDocument/2006/relationships/slideLayout" Target="/ppt/slideLayouts/slideLayout3.xml" Id="R0c4cd552b4da4c1f" /><Relationship Type="http://schemas.openxmlformats.org/officeDocument/2006/relationships/slideLayout" Target="/ppt/slideLayouts/slideLayout4.xml" Id="Rd19b04c606a2464b" /><Relationship Type="http://schemas.openxmlformats.org/officeDocument/2006/relationships/slideLayout" Target="/ppt/slideLayouts/slideLayout5.xml" Id="R832cd2cfa66b41f9" /><Relationship Type="http://schemas.openxmlformats.org/officeDocument/2006/relationships/slideLayout" Target="/ppt/slideLayouts/slideLayout6.xml" Id="R1833ff7f769849ee" /><Relationship Type="http://schemas.openxmlformats.org/officeDocument/2006/relationships/slideLayout" Target="/ppt/slideLayouts/slideLayout7.xml" Id="Rc98a206b8f8a4cba" /><Relationship Type="http://schemas.openxmlformats.org/officeDocument/2006/relationships/slideLayout" Target="/ppt/slideLayouts/slideLayout8.xml" Id="Rd2867f80f2da4d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de68956964d1c"/>
    <p:sldLayoutId xmlns:r="http://schemas.openxmlformats.org/officeDocument/2006/relationships" id="2147483650" r:id="R6cea8515a05f4d64"/>
    <p:sldLayoutId xmlns:r="http://schemas.openxmlformats.org/officeDocument/2006/relationships" id="2147483651" r:id="R0c4cd552b4da4c1f"/>
    <p:sldLayoutId xmlns:r="http://schemas.openxmlformats.org/officeDocument/2006/relationships" id="2147483652" r:id="Rd19b04c606a2464b"/>
    <p:sldLayoutId xmlns:r="http://schemas.openxmlformats.org/officeDocument/2006/relationships" id="2147483653" r:id="R832cd2cfa66b41f9"/>
    <p:sldLayoutId xmlns:r="http://schemas.openxmlformats.org/officeDocument/2006/relationships" id="2147483654" r:id="R1833ff7f769849ee"/>
    <p:sldLayoutId xmlns:r="http://schemas.openxmlformats.org/officeDocument/2006/relationships" id="2147483655" r:id="Rc98a206b8f8a4cba"/>
    <p:sldLayoutId xmlns:r="http://schemas.openxmlformats.org/officeDocument/2006/relationships" id="2147483656" r:id="Rd2867f80f2da4d6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693bd42014e3b" /><Relationship Type="http://schemas.openxmlformats.org/officeDocument/2006/relationships/image" Target="/ppt/media/image.png" Id="Rd0661e591e54495a" /><Relationship Type="http://schemas.openxmlformats.org/officeDocument/2006/relationships/notesSlide" Target="/ppt/notesSlides/notesSlide1.xml" Id="R9b5ce640c1244d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97f281bc243fd" /><Relationship Type="http://schemas.openxmlformats.org/officeDocument/2006/relationships/image" Target="/ppt/media/image2.png" Id="R9268551e25bf42f6" /><Relationship Type="http://schemas.openxmlformats.org/officeDocument/2006/relationships/notesSlide" Target="/ppt/notesSlides/notesSlide2.xml" Id="Raddcf5e5da694a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34c15311e4e43" /><Relationship Type="http://schemas.openxmlformats.org/officeDocument/2006/relationships/notesSlide" Target="/ppt/notesSlides/notesSlide3.xml" Id="R1ead93303b63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1bac8190a4b38" /><Relationship Type="http://schemas.openxmlformats.org/officeDocument/2006/relationships/notesSlide" Target="/ppt/notesSlides/notesSlide4.xml" Id="Rb526ca6d790d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934202cd74e0c" /><Relationship Type="http://schemas.openxmlformats.org/officeDocument/2006/relationships/notesSlide" Target="/ppt/notesSlides/notesSlide5.xml" Id="Rde5af4f6248c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6519dd66c458d" /><Relationship Type="http://schemas.openxmlformats.org/officeDocument/2006/relationships/notesSlide" Target="/ppt/notesSlides/notesSlide6.xml" Id="Re73d6715ff5e45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61e591e5449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617B0-9AAA-42FA-910A-E7E32614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019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94D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广告学案例分析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5BE63-4FEC-4CD0-AE71-C92A652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《变形金刚3》
中国品牌植入广告分析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F2C52-EDC9-4EA0-BC45-3C03A195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70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美特斯·邦威  ·  伊利舒化奶  ·  TCL  ·  联想
姓名：________    课程：广告学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案例背景</a:t>
            </a:r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8551e25bf42f6"/>
          <a:srcRect xmlns:a="http://schemas.openxmlformats.org/drawingml/2006/main" l="0" t="9536" r="0" b="9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76CC435-C2E2-4302-8F44-3DBEB05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好莱坞大片中的中国品牌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《变形金刚3》拥有全球受众。影片集中出现四个中国品牌，使商业植入本身成为观影话题。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DEC57E8-FD18-4E67-AD81-80AF8A6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从曝光走向争议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2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品牌通过服装、饮品和电子设备进入场景。部分观众甚至“记住牛奶、忘了剧情”，说明记忆度与好感度并不等同。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四个品牌的植入方式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电脑道具多次展示标识。小机器人变形为新款笔记本，属于道具加轻度剧情植入。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联想 Lenovo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男女主角穿品牌T恤出镜较久。标识较弱，属于隐蔽式服装道具植入。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美特斯·邦威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3D电视作为室内场景道具。镜头停留较短，曝光方式较为含蓄。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TCL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角色直接拿起并展示饮品。镜头清晰但转折突兀，属于显性道具植入。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伊利舒化奶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2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四个品牌采用了不同的
融合深度。
评价植入质量，要兼顾
可见度、剧情关联和观影干扰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优势与可取之处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86FAC-FFB6-4CB8-A848-DBB68BA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大片IP放大知名度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借助全球发行和成熟类型片，品牌获得国际化联想，也提升国内曝光。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D9D58-7554-404B-A9E0-3215E299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形式覆盖多种层级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服装、饮品、电子设备和轻度剧情融合，为国产品牌合作提供了早期参考。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805BB-C160-45C2-A096-223F522C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话题带来二次传播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舒化奶的突兀感引发调侃，社交讨论继续扩大品牌记忆。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E189B-6406-4385-B15A-79CB0ED6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受众与品牌客群相近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影片核心观众偏年轻，与服装、数码和消费品的目标人群相近。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问题与争议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04035-D4C8-4388-90D1-01C4A0A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曝光压过叙事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舒化奶等镜头缺少人物动机支撑，容易打断观影沉浸。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4C358-7D71-4B37-A5FC-98FF5FA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品牌效果不均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联想兼有剧情和标识，邦威与TCL则过于隐蔽，识别度差异明显。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6B5C7-BE9B-4A62-805B-B2CB4126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记忆不等于好感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“只记得牛奶”说明品牌被看见，也可能伴随广告打扰感。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5EEAA-4727-4777-8B92-0EA2DABB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文化适配不足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中国品牌进入美式叙事时，若缺少自然使用场景，容易显得生硬。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总结与启示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250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植入效果的关键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《变形金刚3》让国产品牌进入国际大片视野，也暴露了早期植入广告偏重曝光的问题。
好的植入需要让产品功能、角色行为与故事逻辑互相支持。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FE5A4BA-C0EA-45B3-AEB2-6741CEE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450"/>
              </a:spcAft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850" b="1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可见度与自然度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太隐蔽无法传达品牌，太直白容易引发抵触。镜头既要服务剧情，也要让品牌可识别。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FC7A7EF-323D-4992-81F1-BF8EDD5E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450"/>
              </a:spcAft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850" b="1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叙事适配优先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选择大片前，应判断产品能否自然进入角色生活和场景，而不是只依靠高流量IP。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2026-09-15T11:44:27.3550000Z</dcterms:created>
  <dcterms:modified xsi:type="dcterms:W3CDTF">2026-09-15T11:44:27.3550000Z</dcterms:modified>
</coreProperties>
</file>