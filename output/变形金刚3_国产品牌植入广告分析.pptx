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5a456c85e504be6" /><Relationship Type="http://schemas.openxmlformats.org/officeDocument/2006/relationships/extended-properties" Target="/docProps/app.xml" Id="R6a8216f781144cfd" /><Relationship Type="http://schemas.openxmlformats.org/officeDocument/2006/relationships/officeDocument" Target="/ppt/presentation.xml" Id="Ra7858cb5953f478b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4d04e25d2f134510"/>
  </p:sldMasterIdLst>
  <p:notesMasterIdLst>
    <p:notesMasterId xmlns:r="http://schemas.openxmlformats.org/officeDocument/2006/relationships" r:id="R5fbcbf249fdc4477"/>
  </p:notesMasterIdLst>
  <p:sldIdLst>
    <p:sldId xmlns:r="http://schemas.openxmlformats.org/officeDocument/2006/relationships" id="256" r:id="Rf392dff32fac4ab0"/>
    <p:sldId xmlns:r="http://schemas.openxmlformats.org/officeDocument/2006/relationships" id="257" r:id="R599017df3c564892"/>
    <p:sldId xmlns:r="http://schemas.openxmlformats.org/officeDocument/2006/relationships" id="258" r:id="Re55fc0e520de427d"/>
    <p:sldId xmlns:r="http://schemas.openxmlformats.org/officeDocument/2006/relationships" id="259" r:id="Rd9b42031a7b741f8"/>
    <p:sldId xmlns:r="http://schemas.openxmlformats.org/officeDocument/2006/relationships" id="260" r:id="R067b16bcac704c1b"/>
    <p:sldId xmlns:r="http://schemas.openxmlformats.org/officeDocument/2006/relationships" id="261" r:id="R10a3b5d8e70349aa"/>
  </p:sldIdLst>
  <p:sldSz cx="12192000" cy="6858000"/>
  <p:notesSz cx="6858000" cy="9144000"/>
  <p:embeddedFontLst>
    <p:embeddedFont>
      <p:font typeface="Inter"/>
      <p:regular xmlns:r="http://schemas.openxmlformats.org/officeDocument/2006/relationships" r:id="R708199227b024675"/>
      <p:bold xmlns:r="http://schemas.openxmlformats.org/officeDocument/2006/relationships" r:id="R925fe19b54524816"/>
    </p:embeddedFont>
    <p:embeddedFont>
      <p:font typeface="Inter Medium"/>
      <p:regular xmlns:r="http://schemas.openxmlformats.org/officeDocument/2006/relationships" r:id="R9db77fa34cf145a4"/>
    </p:embeddedFont>
    <p:embeddedFont>
      <p:font typeface="Inter SemiBold"/>
      <p:regular xmlns:r="http://schemas.openxmlformats.org/officeDocument/2006/relationships" r:id="R47f1373ac9ec4de8"/>
      <p:bold xmlns:r="http://schemas.openxmlformats.org/officeDocument/2006/relationships" r:id="Rbb992e3fb8314b86"/>
    </p:embeddedFont>
    <p:embeddedFont>
      <p:font typeface="OpenAI Sans"/>
      <p:regular xmlns:r="http://schemas.openxmlformats.org/officeDocument/2006/relationships" r:id="R2b0aaa9104fe486e"/>
      <p:bold xmlns:r="http://schemas.openxmlformats.org/officeDocument/2006/relationships" r:id="Rc16fc9a7d507499c"/>
      <p:italic xmlns:r="http://schemas.openxmlformats.org/officeDocument/2006/relationships" r:id="R6aa05bfb56ea4d3a"/>
      <p:boldItalic xmlns:r="http://schemas.openxmlformats.org/officeDocument/2006/relationships" r:id="R224a6216ddf94b32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1799b0b697a41fe" /><Relationship Type="http://schemas.openxmlformats.org/officeDocument/2006/relationships/slideMaster" Target="/ppt/slideMasters/slideMaster1.xml" Id="R4d04e25d2f134510" /><Relationship Type="http://schemas.openxmlformats.org/officeDocument/2006/relationships/notesMaster" Target="/ppt/notesMasters/notesMaster1.xml" Id="R5fbcbf249fdc4477" /><Relationship Type="http://schemas.openxmlformats.org/officeDocument/2006/relationships/presProps" Target="/ppt/presProps.xml" Id="R569b5a877aa54d89" /><Relationship Type="http://schemas.openxmlformats.org/officeDocument/2006/relationships/viewProps" Target="/ppt/viewProps.xml" Id="Rc8cf30d92a3e401e" /><Relationship Type="http://schemas.openxmlformats.org/officeDocument/2006/relationships/tableStyles" Target="/ppt/tableStyles.xml" Id="Rf3de6f9005e149ee" /><Relationship Type="http://schemas.openxmlformats.org/officeDocument/2006/relationships/font" Target="/ppt/fonts/font.dat" Id="R708199227b024675" /><Relationship Type="http://schemas.openxmlformats.org/officeDocument/2006/relationships/font" Target="/ppt/fonts/font2.dat" Id="R925fe19b54524816" /><Relationship Type="http://schemas.openxmlformats.org/officeDocument/2006/relationships/font" Target="/ppt/fonts/font3.dat" Id="R9db77fa34cf145a4" /><Relationship Type="http://schemas.openxmlformats.org/officeDocument/2006/relationships/font" Target="/ppt/fonts/font4.dat" Id="R47f1373ac9ec4de8" /><Relationship Type="http://schemas.openxmlformats.org/officeDocument/2006/relationships/font" Target="/ppt/fonts/font5.dat" Id="Rbb992e3fb8314b86" /><Relationship Type="http://schemas.openxmlformats.org/officeDocument/2006/relationships/font" Target="/ppt/fonts/font6.dat" Id="R2b0aaa9104fe486e" /><Relationship Type="http://schemas.openxmlformats.org/officeDocument/2006/relationships/font" Target="/ppt/fonts/font7.dat" Id="Rc16fc9a7d507499c" /><Relationship Type="http://schemas.openxmlformats.org/officeDocument/2006/relationships/font" Target="/ppt/fonts/font8.dat" Id="R6aa05bfb56ea4d3a" /><Relationship Type="http://schemas.openxmlformats.org/officeDocument/2006/relationships/font" Target="/ppt/fonts/font9.dat" Id="R224a6216ddf94b32" /><Relationship Type="http://schemas.openxmlformats.org/officeDocument/2006/relationships/slide" Target="/ppt/slides/slide1.xml" Id="Rf392dff32fac4ab0" /><Relationship Type="http://schemas.openxmlformats.org/officeDocument/2006/relationships/slide" Target="/ppt/slides/slide2.xml" Id="R599017df3c564892" /><Relationship Type="http://schemas.openxmlformats.org/officeDocument/2006/relationships/slide" Target="/ppt/slides/slide3.xml" Id="Re55fc0e520de427d" /><Relationship Type="http://schemas.openxmlformats.org/officeDocument/2006/relationships/slide" Target="/ppt/slides/slide4.xml" Id="Rd9b42031a7b741f8" /><Relationship Type="http://schemas.openxmlformats.org/officeDocument/2006/relationships/slide" Target="/ppt/slides/slide5.xml" Id="R067b16bcac704c1b" /><Relationship Type="http://schemas.openxmlformats.org/officeDocument/2006/relationships/slide" Target="/ppt/slides/slide6.xml" Id="R10a3b5d8e70349a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91a53d915cf4fb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dk1" tx1="lt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caca624fe4d4530" /><Relationship Type="http://schemas.openxmlformats.org/officeDocument/2006/relationships/notesMaster" Target="/ppt/notesMasters/notesMaster1.xml" Id="Ra67c37cc9bb842e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299d621c55c4f71" /><Relationship Type="http://schemas.openxmlformats.org/officeDocument/2006/relationships/notesMaster" Target="/ppt/notesMasters/notesMaster1.xml" Id="R10594d996f61403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5a66ca3c4da4f6d" /><Relationship Type="http://schemas.openxmlformats.org/officeDocument/2006/relationships/notesMaster" Target="/ppt/notesMasters/notesMaster1.xml" Id="R1a5ff6769672490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83584be97704ce2" /><Relationship Type="http://schemas.openxmlformats.org/officeDocument/2006/relationships/notesMaster" Target="/ppt/notesMasters/notesMaster1.xml" Id="Rd49cd0149d7b4f5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595b0f847a84ab9" /><Relationship Type="http://schemas.openxmlformats.org/officeDocument/2006/relationships/notesMaster" Target="/ppt/notesMasters/notesMaster1.xml" Id="Rad648efce7cf4e8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c69eeb038f746e7" /><Relationship Type="http://schemas.openxmlformats.org/officeDocument/2006/relationships/notesMaster" Target="/ppt/notesMasters/notesMaster1.xml" Id="R9b7c323123894fd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内容依据：用户提供的作业题目与六页文稿。封面配图为 OpenAI ImageGen 生成的原创概念图，不是电影剧照或真实产品图。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内容依据：用户提供文稿。右侧配图为 OpenAI ImageGen 生成的原创概念图，不是电影剧照或真实产品图。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内容依据：用户提供文稿。分类用于比较四个品牌的植入方式与叙事融合深度。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内容依据：用户提供文稿。优势从传播范围、植入形式、二次讨论和受众匹配四个方面归纳。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内容依据：用户提供文稿。争议集中在叙事干扰、曝光不均、品牌好感和文化适配。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内容依据：用户提供文稿。结论强调可见度、自然度与叙事适配之间的平衡。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cdf9b565f9478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7df79a9435404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d2d659897a4cd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81e55e7d114f3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b54936281b47d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b3a265751b452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ead567492847f0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ea6be4182c4d6f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0daa5da75614374" /><Relationship Type="http://schemas.openxmlformats.org/officeDocument/2006/relationships/slideLayout" Target="/ppt/slideLayouts/slideLayout1.xml" Id="R625758272b9349b6" /><Relationship Type="http://schemas.openxmlformats.org/officeDocument/2006/relationships/slideLayout" Target="/ppt/slideLayouts/slideLayout2.xml" Id="Rfd494bd42f2a4d19" /><Relationship Type="http://schemas.openxmlformats.org/officeDocument/2006/relationships/slideLayout" Target="/ppt/slideLayouts/slideLayout3.xml" Id="R1ea4a39c05984fdc" /><Relationship Type="http://schemas.openxmlformats.org/officeDocument/2006/relationships/slideLayout" Target="/ppt/slideLayouts/slideLayout4.xml" Id="Rd577eb6560434cc2" /><Relationship Type="http://schemas.openxmlformats.org/officeDocument/2006/relationships/slideLayout" Target="/ppt/slideLayouts/slideLayout5.xml" Id="R4b6f2b13bf164616" /><Relationship Type="http://schemas.openxmlformats.org/officeDocument/2006/relationships/slideLayout" Target="/ppt/slideLayouts/slideLayout6.xml" Id="Re850b36b851b44ea" /><Relationship Type="http://schemas.openxmlformats.org/officeDocument/2006/relationships/slideLayout" Target="/ppt/slideLayouts/slideLayout7.xml" Id="Re37acced8f91452b" /><Relationship Type="http://schemas.openxmlformats.org/officeDocument/2006/relationships/slideLayout" Target="/ppt/slideLayouts/slideLayout8.xml" Id="Rafa766cfb65d4ede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rgbClr val="0026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25758272b9349b6"/>
    <p:sldLayoutId xmlns:r="http://schemas.openxmlformats.org/officeDocument/2006/relationships" id="2147483650" r:id="Rfd494bd42f2a4d19"/>
    <p:sldLayoutId xmlns:r="http://schemas.openxmlformats.org/officeDocument/2006/relationships" id="2147483651" r:id="R1ea4a39c05984fdc"/>
    <p:sldLayoutId xmlns:r="http://schemas.openxmlformats.org/officeDocument/2006/relationships" id="2147483652" r:id="Rd577eb6560434cc2"/>
    <p:sldLayoutId xmlns:r="http://schemas.openxmlformats.org/officeDocument/2006/relationships" id="2147483653" r:id="R4b6f2b13bf164616"/>
    <p:sldLayoutId xmlns:r="http://schemas.openxmlformats.org/officeDocument/2006/relationships" id="2147483654" r:id="Re850b36b851b44ea"/>
    <p:sldLayoutId xmlns:r="http://schemas.openxmlformats.org/officeDocument/2006/relationships" id="2147483655" r:id="Re37acced8f91452b"/>
    <p:sldLayoutId xmlns:r="http://schemas.openxmlformats.org/officeDocument/2006/relationships" id="2147483656" r:id="Rafa766cfb65d4ede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b="0" i="0" kern="1200">
          <a:solidFill>
            <a:schemeClr val="tx1"/>
          </a:solidFill>
          <a:latin typeface="Inter Medium"/>
          <a:ea typeface="Inter Medium"/>
          <a:cs typeface="Inter Medium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>
          <p15:clr>
            <a:srgbClr xmlns:a="http://schemas.openxmlformats.org/drawingml/2006/main" val="F26B43"/>
          </p15:clr>
        </p15:guide>
        <p15:guide id="2" pos="7680">
          <p15:clr>
            <a:srgbClr xmlns:a="http://schemas.openxmlformats.org/drawingml/2006/main" val="F26B43"/>
          </p15:clr>
        </p15:guide>
        <p15:guide id="3" pos="248">
          <p15:clr>
            <a:srgbClr xmlns:a="http://schemas.openxmlformats.org/drawingml/2006/main" val="F26B43"/>
          </p15:clr>
        </p15:guide>
        <p15:guide id="4" pos="1264">
          <p15:clr>
            <a:srgbClr xmlns:a="http://schemas.openxmlformats.org/drawingml/2006/main" val="F26B43"/>
          </p15:clr>
        </p15:guide>
        <p15:guide id="5" pos="1480">
          <p15:clr>
            <a:srgbClr xmlns:a="http://schemas.openxmlformats.org/drawingml/2006/main" val="F26B43"/>
          </p15:clr>
        </p15:guide>
        <p15:guide id="6" pos="2496">
          <p15:clr>
            <a:srgbClr xmlns:a="http://schemas.openxmlformats.org/drawingml/2006/main" val="F26B43"/>
          </p15:clr>
        </p15:guide>
        <p15:guide id="7" pos="2712">
          <p15:clr>
            <a:srgbClr xmlns:a="http://schemas.openxmlformats.org/drawingml/2006/main" val="F26B43"/>
          </p15:clr>
        </p15:guide>
        <p15:guide id="8" pos="3736">
          <p15:clr>
            <a:srgbClr xmlns:a="http://schemas.openxmlformats.org/drawingml/2006/main" val="F26B43"/>
          </p15:clr>
        </p15:guide>
        <p15:guide id="9" pos="3944">
          <p15:clr>
            <a:srgbClr xmlns:a="http://schemas.openxmlformats.org/drawingml/2006/main" val="F26B43"/>
          </p15:clr>
        </p15:guide>
        <p15:guide id="10" pos="4968">
          <p15:clr>
            <a:srgbClr xmlns:a="http://schemas.openxmlformats.org/drawingml/2006/main" val="F26B43"/>
          </p15:clr>
        </p15:guide>
        <p15:guide id="11" pos="5184">
          <p15:clr>
            <a:srgbClr xmlns:a="http://schemas.openxmlformats.org/drawingml/2006/main" val="F26B43"/>
          </p15:clr>
        </p15:guide>
        <p15:guide id="12" pos="6200">
          <p15:clr>
            <a:srgbClr xmlns:a="http://schemas.openxmlformats.org/drawingml/2006/main" val="F26B43"/>
          </p15:clr>
        </p15:guide>
        <p15:guide id="13" pos="6416">
          <p15:clr>
            <a:srgbClr xmlns:a="http://schemas.openxmlformats.org/drawingml/2006/main" val="F26B43"/>
          </p15:clr>
        </p15:guide>
        <p15:guide id="14" pos="7432">
          <p15:clr>
            <a:srgbClr xmlns:a="http://schemas.openxmlformats.org/drawingml/2006/main" val="F26B43"/>
          </p15:clr>
        </p15:guide>
        <p15:guide id="15" orient="horz">
          <p15:clr>
            <a:srgbClr xmlns:a="http://schemas.openxmlformats.org/drawingml/2006/main" val="F26B43"/>
          </p15:clr>
        </p15:guide>
        <p15:guide id="17" orient="horz" pos="248">
          <p15:clr>
            <a:srgbClr xmlns:a="http://schemas.openxmlformats.org/drawingml/2006/main" val="F26B43"/>
          </p15:clr>
        </p15:guide>
        <p15:guide id="18" orient="horz" pos="656">
          <p15:clr>
            <a:srgbClr xmlns:a="http://schemas.openxmlformats.org/drawingml/2006/main" val="F26B43"/>
          </p15:clr>
        </p15:guide>
        <p15:guide id="19" orient="horz" pos="872">
          <p15:clr>
            <a:srgbClr xmlns:a="http://schemas.openxmlformats.org/drawingml/2006/main" val="F26B43"/>
          </p15:clr>
        </p15:guide>
        <p15:guide id="20" orient="horz" pos="1280">
          <p15:clr>
            <a:srgbClr xmlns:a="http://schemas.openxmlformats.org/drawingml/2006/main" val="F26B43"/>
          </p15:clr>
        </p15:guide>
        <p15:guide id="21" orient="horz" pos="1496">
          <p15:clr>
            <a:srgbClr xmlns:a="http://schemas.openxmlformats.org/drawingml/2006/main" val="F26B43"/>
          </p15:clr>
        </p15:guide>
        <p15:guide id="22" orient="horz" pos="1904">
          <p15:clr>
            <a:srgbClr xmlns:a="http://schemas.openxmlformats.org/drawingml/2006/main" val="F26B43"/>
          </p15:clr>
        </p15:guide>
        <p15:guide id="23" orient="horz" pos="2120">
          <p15:clr>
            <a:srgbClr xmlns:a="http://schemas.openxmlformats.org/drawingml/2006/main" val="F26B43"/>
          </p15:clr>
        </p15:guide>
        <p15:guide id="24" orient="horz" pos="2528">
          <p15:clr>
            <a:srgbClr xmlns:a="http://schemas.openxmlformats.org/drawingml/2006/main" val="F26B43"/>
          </p15:clr>
        </p15:guide>
        <p15:guide id="25" orient="horz" pos="2744">
          <p15:clr>
            <a:srgbClr xmlns:a="http://schemas.openxmlformats.org/drawingml/2006/main" val="F26B43"/>
          </p15:clr>
        </p15:guide>
        <p15:guide id="26" orient="horz" pos="3152">
          <p15:clr>
            <a:srgbClr xmlns:a="http://schemas.openxmlformats.org/drawingml/2006/main" val="F26B43"/>
          </p15:clr>
        </p15:guide>
        <p15:guide id="27" orient="horz" pos="3368">
          <p15:clr>
            <a:srgbClr xmlns:a="http://schemas.openxmlformats.org/drawingml/2006/main" val="F26B43"/>
          </p15:clr>
        </p15:guide>
        <p15:guide id="28" orient="horz" pos="3776">
          <p15:clr>
            <a:srgbClr xmlns:a="http://schemas.openxmlformats.org/drawingml/2006/main" val="F26B43"/>
          </p15:clr>
        </p15:guide>
        <p15:guide id="29" orient="horz" pos="4088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e7518fe3224ac1" /><Relationship Type="http://schemas.openxmlformats.org/officeDocument/2006/relationships/image" Target="/ppt/media/image.png" Id="R50f5c75bda0f46c8" /><Relationship Type="http://schemas.openxmlformats.org/officeDocument/2006/relationships/notesSlide" Target="/ppt/notesSlides/notesSlide1.xml" Id="R2e76eb17567d48b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c866961e3f4dc8" /><Relationship Type="http://schemas.openxmlformats.org/officeDocument/2006/relationships/image" Target="/ppt/media/image2.png" Id="Rb82f817c8d0e4294" /><Relationship Type="http://schemas.openxmlformats.org/officeDocument/2006/relationships/notesSlide" Target="/ppt/notesSlides/notesSlide2.xml" Id="Rad0738b66d8e4a9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aabbcde69c489d" /><Relationship Type="http://schemas.openxmlformats.org/officeDocument/2006/relationships/notesSlide" Target="/ppt/notesSlides/notesSlide3.xml" Id="R66bf4ca496d24f3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581ef7f63e42f9" /><Relationship Type="http://schemas.openxmlformats.org/officeDocument/2006/relationships/notesSlide" Target="/ppt/notesSlides/notesSlide4.xml" Id="R9549538a833847b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ffb5fe303c4693" /><Relationship Type="http://schemas.openxmlformats.org/officeDocument/2006/relationships/notesSlide" Target="/ppt/notesSlides/notesSlide5.xml" Id="R31a7b46e4e1143e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823dcda8b24c94" /><Relationship Type="http://schemas.openxmlformats.org/officeDocument/2006/relationships/notesSlide" Target="/ppt/notesSlides/notesSlide6.xml" Id="Rebc388c6c5b24ed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f5c75bda0f46c8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3A48FE-EBAF-4A34-B410-49087DEF2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20193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294D4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b="1">
                <a:solidFill>
                  <a:srgbClr val="F4F8F4"/>
                </a:solidFill>
                <a:latin typeface="Noto Sans SC"/>
                <a:ea typeface="Noto Sans SC"/>
                <a:cs typeface="Noto Sans SC"/>
              </a:defRPr>
            </a:pPr>
            <a:r>
              <a:rPr sz="1400" b="1">
                <a:solidFill>
                  <a:srgbClr val="F4F8F4"/>
                </a:solidFill>
                <a:latin typeface="Noto Sans SC"/>
                <a:ea typeface="Noto Sans SC"/>
                <a:cs typeface="Noto Sans SC"/>
              </a:rPr>
              <a:t>广告学案例分析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6B4129-664F-4DE2-95C7-82A94EA7F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619125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b="1">
                <a:solidFill>
                  <a:srgbClr val="B7F34A"/>
                </a:solidFill>
                <a:latin typeface="Noto Sans SC"/>
                <a:ea typeface="Noto Sans SC"/>
                <a:cs typeface="Noto Sans SC"/>
              </a:defRPr>
            </a:pPr>
            <a:r>
              <a:rPr sz="3900" b="1">
                <a:solidFill>
                  <a:srgbClr val="B7F34A"/>
                </a:solidFill>
                <a:latin typeface="Noto Sans SC"/>
                <a:ea typeface="Noto Sans SC"/>
                <a:cs typeface="Noto Sans SC"/>
              </a:rPr>
              <a:t>《变形金刚3》
中国品牌植入广告分析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D6CA04-4CC3-45A9-9A61-D3F67A002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38625"/>
            <a:ext cx="5905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b="0">
                <a:solidFill>
                  <a:srgbClr val="F4F8F4"/>
                </a:solidFill>
                <a:latin typeface="Noto Sans SC"/>
                <a:ea typeface="Noto Sans SC"/>
                <a:cs typeface="Noto Sans SC"/>
              </a:defRPr>
            </a:pPr>
            <a:r>
              <a:rPr sz="1700" b="0">
                <a:solidFill>
                  <a:srgbClr val="F4F8F4"/>
                </a:solidFill>
                <a:latin typeface="Noto Sans SC"/>
                <a:ea typeface="Noto Sans SC"/>
                <a:cs typeface="Noto Sans SC"/>
              </a:rPr>
              <a:t>美特斯·邦威  ·  伊利舒化奶  ·  TCL  ·  联想
姓名：________    课程：广告学</a:t>
            </a:r>
          </a:p>
        </p:txBody>
      </p:sp>
    </p:spTree>
    <p:extLst>
      <p:ext uri="{BB962C8B-B14F-4D97-AF65-F5344CB8AC3E}">
        <p14:creationId xmlns:p14="http://schemas.microsoft.com/office/powerpoint/2010/main" val="350773716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E20367F-43F2-7564-3994-7F969BF46C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b="0">
                <a:solidFill>
                  <a:srgbClr val="F4F8F4"/>
                </a:solidFill>
                <a:latin typeface="Noto Sans SC"/>
                <a:ea typeface="Noto Sans SC"/>
                <a:cs typeface="Noto Sans SC"/>
              </a:defRPr>
            </a:pPr>
            <a:r>
              <a:rPr sz="850" b="0">
                <a:solidFill>
                  <a:srgbClr val="F4F8F4"/>
                </a:solidFill>
                <a:latin typeface="Noto Sans SC"/>
                <a:ea typeface="Noto Sans SC"/>
                <a:cs typeface="Noto Sans SC"/>
              </a:rPr>
              <a:t>2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spcFirstLastPara="1" vert="horz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b="1">
                <a:solidFill>
                  <a:srgbClr val="F4F8F4"/>
                </a:solidFill>
                <a:latin typeface="Noto Sans SC"/>
                <a:ea typeface="Noto Sans SC"/>
                <a:cs typeface="Noto Sans SC"/>
              </a:defRPr>
            </a:pPr>
            <a:r>
              <a:rPr sz="2800" b="1">
                <a:solidFill>
                  <a:srgbClr val="F4F8F4"/>
                </a:solidFill>
                <a:latin typeface="Noto Sans SC"/>
                <a:ea typeface="Noto Sans SC"/>
                <a:cs typeface="Noto Sans SC"/>
              </a:rPr>
              <a:t>案例背景</a:t>
            </a:r>
          </a:p>
        </p:txBody>
      </p:sp>
      <p:pic>
        <p:nvPicPr>
          <p:cNvPr id="538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2f817c8d0e4294"/>
          <a:srcRect xmlns:a="http://schemas.openxmlformats.org/drawingml/2006/main" l="0" t="9536" r="0" b="95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9040" y="396409"/>
            <a:ext cx="5539740" cy="5602070"/>
          </a:xfrm>
          <a:prstGeom xmlns:a="http://schemas.openxmlformats.org/drawingml/2006/main" prst="roundRect">
            <a:avLst>
              <a:gd name="adj" fmla="val 2063"/>
            </a:avLst>
          </a:prstGeom>
        </p:spPr>
      </p:pic>
      <p:sp>
        <p:nvSpPr>
          <p:cNvPr id="2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D4EE2969-B7C7-0C70-E299-B866E67DB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684867"/>
            <a:ext cx="5537200" cy="174413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spcAft>
                <a:spcPts val="700"/>
              </a:spcAft>
              <a:buNone/>
              <a:defRPr>
                <a:solidFill>
                  <a:srgbClr val="F4F8F4"/>
                </a:solidFill>
                <a:latin typeface="Noto Sans SC"/>
                <a:ea typeface="Noto Sans SC"/>
                <a:cs typeface="Noto Sans SC"/>
              </a:defRPr>
            </a:pPr>
            <a:r>
              <a:rPr sz="1900" b="1">
                <a:solidFill>
                  <a:srgbClr val="F4F8F4"/>
                </a:solidFill>
                <a:latin typeface="Noto Sans SC"/>
                <a:ea typeface="Noto Sans SC"/>
                <a:cs typeface="Noto Sans SC"/>
              </a:rPr>
              <a:t>好莱坞大片中的中国品牌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>
                <a:solidFill>
                  <a:srgbClr val="F4F8F4"/>
                </a:solidFill>
                <a:latin typeface="Noto Sans SC"/>
                <a:ea typeface="Noto Sans SC"/>
                <a:cs typeface="Noto Sans SC"/>
              </a:defRPr>
            </a:pPr>
            <a:r>
              <a:rPr sz="1450">
                <a:solidFill>
                  <a:srgbClr val="F4F8F4"/>
                </a:solidFill>
                <a:latin typeface="Noto Sans SC"/>
                <a:ea typeface="Noto Sans SC"/>
                <a:cs typeface="Noto Sans SC"/>
              </a:rPr>
              <a:t>《变形金刚3》拥有全球受众。影片集中出现四个中国品牌，使商业植入本身成为观影话题。</a:t>
            </a:r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72A34455-41AC-E436-D08C-DBCA262EF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855855"/>
            <a:ext cx="5537200" cy="174413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spcAft>
                <a:spcPts val="700"/>
              </a:spcAft>
              <a:buNone/>
              <a:defRPr>
                <a:solidFill>
                  <a:srgbClr val="F4F8F4"/>
                </a:solidFill>
                <a:latin typeface="Noto Sans SC"/>
                <a:ea typeface="Noto Sans SC"/>
                <a:cs typeface="Noto Sans SC"/>
              </a:defRPr>
            </a:pPr>
            <a:r>
              <a:rPr sz="1900" b="1">
                <a:solidFill>
                  <a:srgbClr val="F4F8F4"/>
                </a:solidFill>
                <a:latin typeface="Noto Sans SC"/>
                <a:ea typeface="Noto Sans SC"/>
                <a:cs typeface="Noto Sans SC"/>
              </a:rPr>
              <a:t>从曝光走向争议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>
                <a:solidFill>
                  <a:srgbClr val="F4F8F4"/>
                </a:solidFill>
                <a:latin typeface="Noto Sans SC"/>
                <a:ea typeface="Noto Sans SC"/>
                <a:cs typeface="Noto Sans SC"/>
              </a:defRPr>
            </a:pPr>
            <a:r>
              <a:rPr sz="1420">
                <a:solidFill>
                  <a:srgbClr val="F4F8F4"/>
                </a:solidFill>
                <a:latin typeface="Noto Sans SC"/>
                <a:ea typeface="Noto Sans SC"/>
                <a:cs typeface="Noto Sans SC"/>
              </a:rPr>
              <a:t>品牌通过服装、饮品和电子设备进入场景。部分观众甚至“记住牛奶、忘了剧情”，说明记忆度与好感度并不等同。</a:t>
            </a:r>
          </a:p>
        </p:txBody>
      </p:sp>
    </p:spTree>
    <p:extLst>
      <p:ext uri="{BB962C8B-B14F-4D97-AF65-F5344CB8AC3E}">
        <p14:creationId xmlns:p14="http://schemas.microsoft.com/office/powerpoint/2010/main" val="324567077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B4523B68-CB58-F426-D824-531128F4CB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BC152D0-CDF3-969A-A32E-0A1C97DA936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b="0">
                <a:solidFill>
                  <a:srgbClr val="F4F8F4"/>
                </a:solidFill>
                <a:latin typeface="Noto Sans SC"/>
                <a:ea typeface="Noto Sans SC"/>
                <a:cs typeface="Noto Sans SC"/>
              </a:defRPr>
            </a:pPr>
            <a:r>
              <a:rPr sz="850" b="0">
                <a:solidFill>
                  <a:srgbClr val="F4F8F4"/>
                </a:solidFill>
                <a:latin typeface="Noto Sans SC"/>
                <a:ea typeface="Noto Sans SC"/>
                <a:cs typeface="Noto Sans SC"/>
              </a:rPr>
              <a:t>3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9CA28587-E9DB-FD6E-67D5-B6C4D20349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b="1">
                <a:solidFill>
                  <a:srgbClr val="F4F8F4"/>
                </a:solidFill>
                <a:latin typeface="Noto Sans SC"/>
                <a:ea typeface="Noto Sans SC"/>
                <a:cs typeface="Noto Sans SC"/>
              </a:defRPr>
            </a:pPr>
            <a:r>
              <a:rPr sz="2800" b="1">
                <a:solidFill>
                  <a:srgbClr val="F4F8F4"/>
                </a:solidFill>
                <a:latin typeface="Noto Sans SC"/>
                <a:ea typeface="Noto Sans SC"/>
                <a:cs typeface="Noto Sans SC"/>
              </a:rPr>
              <a:t>四个品牌的植入方式</a:t>
            </a:r>
          </a:p>
        </p:txBody>
      </p:sp>
      <p:sp>
        <p:nvSpPr>
          <p:cNvPr id="1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2575F3F3-5548-310C-CA8A-2BB5F4F1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749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rmAutofit fontScale="93794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b="0">
                <a:solidFill>
                  <a:srgbClr val="F4F8F4"/>
                </a:solidFill>
                <a:latin typeface="Noto Sans SC"/>
                <a:ea typeface="Noto Sans SC"/>
                <a:cs typeface="Noto Sans SC"/>
              </a:defRPr>
            </a:pPr>
            <a:r>
              <a:rPr sz="1280" b="0">
                <a:solidFill>
                  <a:srgbClr val="F4F8F4"/>
                </a:solidFill>
                <a:latin typeface="Noto Sans SC"/>
                <a:ea typeface="Noto Sans SC"/>
                <a:cs typeface="Noto Sans SC"/>
              </a:rPr>
              <a:t>电脑道具多次展示标识。小机器人变形为新款笔记本，属于道具加轻度剧情植入。</a:t>
            </a:r>
          </a:p>
        </p:txBody>
      </p:sp>
      <p:sp>
        <p:nvSpPr>
          <p:cNvPr id="1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50C3B7B-28A7-FE2B-805B-9E84EA8C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23749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b="1">
                <a:solidFill>
                  <a:srgbClr val="B7F34A"/>
                </a:solidFill>
                <a:latin typeface="Noto Sans SC"/>
                <a:ea typeface="Noto Sans SC"/>
                <a:cs typeface="Noto Sans SC"/>
              </a:defRPr>
            </a:pPr>
            <a:r>
              <a:rPr sz="1450" b="1">
                <a:solidFill>
                  <a:srgbClr val="B7F34A"/>
                </a:solidFill>
                <a:latin typeface="Noto Sans SC"/>
                <a:ea typeface="Noto Sans SC"/>
                <a:cs typeface="Noto Sans SC"/>
              </a:rPr>
              <a:t>联想 Lenovo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989BD75-DE8D-B290-9745-1D9E8821A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655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rmAutofit fontScale="93794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b="0">
                <a:solidFill>
                  <a:srgbClr val="F4F8F4"/>
                </a:solidFill>
                <a:latin typeface="Noto Sans SC"/>
                <a:ea typeface="Noto Sans SC"/>
                <a:cs typeface="Noto Sans SC"/>
              </a:defRPr>
            </a:pPr>
            <a:r>
              <a:rPr sz="1280" b="0">
                <a:solidFill>
                  <a:srgbClr val="F4F8F4"/>
                </a:solidFill>
                <a:latin typeface="Noto Sans SC"/>
                <a:ea typeface="Noto Sans SC"/>
                <a:cs typeface="Noto Sans SC"/>
              </a:rPr>
              <a:t>男女主角穿品牌T恤出镜较久。标识较弱，属于隐蔽式服装道具植入。</a:t>
            </a:r>
          </a:p>
        </p:txBody>
      </p:sp>
      <p:sp>
        <p:nvSpPr>
          <p:cNvPr id="17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53F591C-9E43-179D-176D-24989B8B7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33655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b="1">
                <a:solidFill>
                  <a:srgbClr val="B7F34A"/>
                </a:solidFill>
                <a:latin typeface="Noto Sans SC"/>
                <a:ea typeface="Noto Sans SC"/>
                <a:cs typeface="Noto Sans SC"/>
              </a:defRPr>
            </a:pPr>
            <a:r>
              <a:rPr sz="1450" b="1">
                <a:solidFill>
                  <a:srgbClr val="B7F34A"/>
                </a:solidFill>
                <a:latin typeface="Noto Sans SC"/>
                <a:ea typeface="Noto Sans SC"/>
                <a:cs typeface="Noto Sans SC"/>
              </a:rPr>
              <a:t>美特斯·邦威</a:t>
            </a: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7B38CBA-379D-8AEA-4C18-49046133E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3561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b="0">
                <a:solidFill>
                  <a:srgbClr val="F4F8F4"/>
                </a:solidFill>
                <a:latin typeface="Noto Sans SC"/>
                <a:ea typeface="Noto Sans SC"/>
                <a:cs typeface="Noto Sans SC"/>
              </a:defRPr>
            </a:pPr>
            <a:r>
              <a:rPr sz="1280" b="0">
                <a:solidFill>
                  <a:srgbClr val="F4F8F4"/>
                </a:solidFill>
                <a:latin typeface="Noto Sans SC"/>
                <a:ea typeface="Noto Sans SC"/>
                <a:cs typeface="Noto Sans SC"/>
              </a:rPr>
              <a:t>3D电视作为室内场景道具。镜头停留较短，曝光方式较为含蓄。</a:t>
            </a:r>
          </a:p>
        </p:txBody>
      </p:sp>
      <p:sp>
        <p:nvSpPr>
          <p:cNvPr id="19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558135D-EC8F-1FA0-D966-C8D4FA20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43561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b="1">
                <a:solidFill>
                  <a:srgbClr val="B7F34A"/>
                </a:solidFill>
                <a:latin typeface="Noto Sans SC"/>
                <a:ea typeface="Noto Sans SC"/>
                <a:cs typeface="Noto Sans SC"/>
              </a:defRPr>
            </a:pPr>
            <a:r>
              <a:rPr sz="1450" b="1">
                <a:solidFill>
                  <a:srgbClr val="B7F34A"/>
                </a:solidFill>
                <a:latin typeface="Noto Sans SC"/>
                <a:ea typeface="Noto Sans SC"/>
                <a:cs typeface="Noto Sans SC"/>
              </a:rPr>
              <a:t>TCL</a:t>
            </a: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59682F0D-6358-B00F-89D9-1AC37090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3594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rmAutofit fontScale="93794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b="0">
                <a:solidFill>
                  <a:srgbClr val="F4F8F4"/>
                </a:solidFill>
                <a:latin typeface="Noto Sans SC"/>
                <a:ea typeface="Noto Sans SC"/>
                <a:cs typeface="Noto Sans SC"/>
              </a:defRPr>
            </a:pPr>
            <a:r>
              <a:rPr sz="1280" b="0">
                <a:solidFill>
                  <a:srgbClr val="F4F8F4"/>
                </a:solidFill>
                <a:latin typeface="Noto Sans SC"/>
                <a:ea typeface="Noto Sans SC"/>
                <a:cs typeface="Noto Sans SC"/>
              </a:rPr>
              <a:t>角色直接拿起并展示饮品。镜头清晰但转折突兀，属于显性道具植入。</a:t>
            </a:r>
          </a:p>
        </p:txBody>
      </p:sp>
      <p:sp>
        <p:nvSpPr>
          <p:cNvPr id="2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858787E0-CB4B-BCAC-702A-ECD3032DF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53594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b="1">
                <a:solidFill>
                  <a:srgbClr val="B7F34A"/>
                </a:solidFill>
                <a:latin typeface="Noto Sans SC"/>
                <a:ea typeface="Noto Sans SC"/>
                <a:cs typeface="Noto Sans SC"/>
              </a:defRPr>
            </a:pPr>
            <a:r>
              <a:rPr sz="1450" b="1">
                <a:solidFill>
                  <a:srgbClr val="B7F34A"/>
                </a:solidFill>
                <a:latin typeface="Noto Sans SC"/>
                <a:ea typeface="Noto Sans SC"/>
                <a:cs typeface="Noto Sans SC"/>
              </a:rPr>
              <a:t>伊利舒化奶</a:t>
            </a:r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82CDA0F-E73C-7EBB-EE08-FECCE69C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374901"/>
            <a:ext cx="3568700" cy="36194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lnSpc>
                <a:spcPct val="128000"/>
              </a:lnSpc>
              <a:buNone/>
              <a:defRPr b="0">
                <a:solidFill>
                  <a:srgbClr val="F4F8F4"/>
                </a:solidFill>
                <a:latin typeface="Noto Sans SC"/>
                <a:ea typeface="Noto Sans SC"/>
                <a:cs typeface="Noto Sans SC"/>
              </a:defRPr>
            </a:pPr>
            <a:r>
              <a:rPr sz="1900" b="0">
                <a:solidFill>
                  <a:srgbClr val="F4F8F4"/>
                </a:solidFill>
                <a:latin typeface="Noto Sans SC"/>
                <a:ea typeface="Noto Sans SC"/>
                <a:cs typeface="Noto Sans SC"/>
              </a:rPr>
              <a:t>同一部电影中，四个品牌采用了不同的融合深度。
判断植入质量，需要同时观察可见度、剧情关联与观影干扰。</a:t>
            </a:r>
          </a:p>
        </p:txBody>
      </p:sp>
    </p:spTree>
    <p:extLst>
      <p:ext uri="{BB962C8B-B14F-4D97-AF65-F5344CB8AC3E}">
        <p14:creationId xmlns:p14="http://schemas.microsoft.com/office/powerpoint/2010/main" val="67611695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79D819C-33DB-D779-0CC9-74786C7AA64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6B79DB2A-CC47-00B8-FE1C-26473E47EA9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188" y="6278563"/>
            <a:ext cx="519112" cy="2413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b="0">
                <a:solidFill>
                  <a:srgbClr val="F4F8F4"/>
                </a:solidFill>
                <a:latin typeface="Noto Sans SC"/>
                <a:ea typeface="Noto Sans SC"/>
                <a:cs typeface="Noto Sans SC"/>
              </a:defRPr>
            </a:pPr>
            <a:r>
              <a:rPr sz="850" b="0">
                <a:solidFill>
                  <a:srgbClr val="F4F8F4"/>
                </a:solidFill>
                <a:latin typeface="Noto Sans SC"/>
                <a:ea typeface="Noto Sans SC"/>
                <a:cs typeface="Noto Sans SC"/>
              </a:rPr>
              <a:t>4</a:t>
            </a:r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89BFFB18-4CB5-6BE2-9B1E-49B4101293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b="1">
                <a:solidFill>
                  <a:srgbClr val="F4F8F4"/>
                </a:solidFill>
                <a:latin typeface="Noto Sans SC"/>
                <a:ea typeface="Noto Sans SC"/>
                <a:cs typeface="Noto Sans SC"/>
              </a:defRPr>
            </a:pPr>
            <a:r>
              <a:rPr sz="2800" b="1">
                <a:solidFill>
                  <a:srgbClr val="F4F8F4"/>
                </a:solidFill>
                <a:latin typeface="Noto Sans SC"/>
                <a:ea typeface="Noto Sans SC"/>
                <a:cs typeface="Noto Sans SC"/>
              </a:rPr>
              <a:t>优势与可取之处</a:t>
            </a:r>
          </a:p>
        </p:txBody>
      </p:sp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40C911A7-2999-5B10-850F-7785C571AE5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2032000"/>
            <a:ext cx="5537200" cy="1643063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Aft>
                <a:spcPts val="600"/>
              </a:spcAft>
              <a:buNone/>
              <a:defRPr>
                <a:solidFill>
                  <a:srgbClr val="F4F8F4"/>
                </a:solidFill>
                <a:latin typeface="Noto Sans SC"/>
                <a:ea typeface="Noto Sans SC"/>
                <a:cs typeface="Noto Sans SC"/>
              </a:defRPr>
            </a:pPr>
            <a:r>
              <a:rPr sz="2000" b="1">
                <a:solidFill>
                  <a:srgbClr val="F4F8F4"/>
                </a:solidFill>
                <a:latin typeface="Noto Sans SC"/>
                <a:ea typeface="Noto Sans SC"/>
                <a:cs typeface="Noto Sans SC"/>
              </a:rPr>
              <a:t>大片IP放大知名度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>
                <a:solidFill>
                  <a:srgbClr val="F4F8F4"/>
                </a:solidFill>
                <a:latin typeface="Noto Sans SC"/>
                <a:ea typeface="Noto Sans SC"/>
                <a:cs typeface="Noto Sans SC"/>
              </a:defRPr>
            </a:pPr>
            <a:r>
              <a:rPr sz="1450">
                <a:solidFill>
                  <a:srgbClr val="F4F8F4"/>
                </a:solidFill>
                <a:latin typeface="Noto Sans SC"/>
                <a:ea typeface="Noto Sans SC"/>
                <a:cs typeface="Noto Sans SC"/>
              </a:rPr>
              <a:t>借助全球发行和成熟类型片，品牌获得国际化联想，也提升国内曝光。</a:t>
            </a: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591DE77-626F-6364-307D-6A3CECC3E0AC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6256618" y="2032000"/>
            <a:ext cx="5537200" cy="1643063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Aft>
                <a:spcPts val="600"/>
              </a:spcAft>
              <a:buNone/>
              <a:defRPr>
                <a:solidFill>
                  <a:srgbClr val="F4F8F4"/>
                </a:solidFill>
                <a:latin typeface="Noto Sans SC"/>
                <a:ea typeface="Noto Sans SC"/>
                <a:cs typeface="Noto Sans SC"/>
              </a:defRPr>
            </a:pPr>
            <a:r>
              <a:rPr sz="2000" b="1">
                <a:solidFill>
                  <a:srgbClr val="F4F8F4"/>
                </a:solidFill>
                <a:latin typeface="Noto Sans SC"/>
                <a:ea typeface="Noto Sans SC"/>
                <a:cs typeface="Noto Sans SC"/>
              </a:rPr>
              <a:t>形式覆盖多种层级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>
                <a:solidFill>
                  <a:srgbClr val="F4F8F4"/>
                </a:solidFill>
                <a:latin typeface="Noto Sans SC"/>
                <a:ea typeface="Noto Sans SC"/>
                <a:cs typeface="Noto Sans SC"/>
              </a:defRPr>
            </a:pPr>
            <a:r>
              <a:rPr sz="1450">
                <a:solidFill>
                  <a:srgbClr val="F4F8F4"/>
                </a:solidFill>
                <a:latin typeface="Noto Sans SC"/>
                <a:ea typeface="Noto Sans SC"/>
                <a:cs typeface="Noto Sans SC"/>
              </a:rPr>
              <a:t>服装、饮品、电子设备和轻度剧情融合，为国产品牌合作提供了早期参考。</a:t>
            </a:r>
          </a:p>
        </p:txBody>
      </p:sp>
      <p:sp>
        <p:nvSpPr>
          <p:cNvPr id="4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FBFFE27-6CE4-D49E-8371-7F40817D2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016975"/>
            <a:ext cx="5537200" cy="1643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spcAft>
                <a:spcPts val="600"/>
              </a:spcAft>
              <a:buNone/>
              <a:defRPr>
                <a:solidFill>
                  <a:srgbClr val="F4F8F4"/>
                </a:solidFill>
                <a:latin typeface="Noto Sans SC"/>
                <a:ea typeface="Noto Sans SC"/>
                <a:cs typeface="Noto Sans SC"/>
              </a:defRPr>
            </a:pPr>
            <a:r>
              <a:rPr sz="2000" b="1">
                <a:solidFill>
                  <a:srgbClr val="F4F8F4"/>
                </a:solidFill>
                <a:latin typeface="Noto Sans SC"/>
                <a:ea typeface="Noto Sans SC"/>
                <a:cs typeface="Noto Sans SC"/>
              </a:rPr>
              <a:t>话题带来二次传播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>
                <a:solidFill>
                  <a:srgbClr val="F4F8F4"/>
                </a:solidFill>
                <a:latin typeface="Noto Sans SC"/>
                <a:ea typeface="Noto Sans SC"/>
                <a:cs typeface="Noto Sans SC"/>
              </a:defRPr>
            </a:pPr>
            <a:r>
              <a:rPr sz="1450">
                <a:solidFill>
                  <a:srgbClr val="F4F8F4"/>
                </a:solidFill>
                <a:latin typeface="Noto Sans SC"/>
                <a:ea typeface="Noto Sans SC"/>
                <a:cs typeface="Noto Sans SC"/>
              </a:rPr>
              <a:t>舒化奶的突兀感引发调侃，社交讨论继续扩大品牌记忆。</a:t>
            </a:r>
          </a:p>
        </p:txBody>
      </p:sp>
      <p:sp>
        <p:nvSpPr>
          <p:cNvPr id="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D6F50C40-7DBA-55A3-751E-00E97654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4016975"/>
            <a:ext cx="5537200" cy="1643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spcAft>
                <a:spcPts val="600"/>
              </a:spcAft>
              <a:buNone/>
              <a:defRPr>
                <a:solidFill>
                  <a:srgbClr val="F4F8F4"/>
                </a:solidFill>
                <a:latin typeface="Noto Sans SC"/>
                <a:ea typeface="Noto Sans SC"/>
                <a:cs typeface="Noto Sans SC"/>
              </a:defRPr>
            </a:pPr>
            <a:r>
              <a:rPr sz="2000" b="1">
                <a:solidFill>
                  <a:srgbClr val="F4F8F4"/>
                </a:solidFill>
                <a:latin typeface="Noto Sans SC"/>
                <a:ea typeface="Noto Sans SC"/>
                <a:cs typeface="Noto Sans SC"/>
              </a:rPr>
              <a:t>受众与品牌客群相近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>
                <a:solidFill>
                  <a:srgbClr val="F4F8F4"/>
                </a:solidFill>
                <a:latin typeface="Noto Sans SC"/>
                <a:ea typeface="Noto Sans SC"/>
                <a:cs typeface="Noto Sans SC"/>
              </a:defRPr>
            </a:pPr>
            <a:r>
              <a:rPr sz="1450">
                <a:solidFill>
                  <a:srgbClr val="F4F8F4"/>
                </a:solidFill>
                <a:latin typeface="Noto Sans SC"/>
                <a:ea typeface="Noto Sans SC"/>
                <a:cs typeface="Noto Sans SC"/>
              </a:rPr>
              <a:t>影片核心观众偏年轻，与服装、数码和消费品目标人群有较高重合。</a:t>
            </a:r>
          </a:p>
        </p:txBody>
      </p:sp>
    </p:spTree>
    <p:extLst>
      <p:ext uri="{BB962C8B-B14F-4D97-AF65-F5344CB8AC3E}">
        <p14:creationId xmlns:p14="http://schemas.microsoft.com/office/powerpoint/2010/main" val="36014548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79D819C-33DB-D779-0CC9-74786C7AA64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6B79DB2A-CC47-00B8-FE1C-26473E47EA9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188" y="6278563"/>
            <a:ext cx="519112" cy="2413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b="0">
                <a:solidFill>
                  <a:srgbClr val="F4F8F4"/>
                </a:solidFill>
                <a:latin typeface="Noto Sans SC"/>
                <a:ea typeface="Noto Sans SC"/>
                <a:cs typeface="Noto Sans SC"/>
              </a:defRPr>
            </a:pPr>
            <a:r>
              <a:rPr sz="850" b="0">
                <a:solidFill>
                  <a:srgbClr val="F4F8F4"/>
                </a:solidFill>
                <a:latin typeface="Noto Sans SC"/>
                <a:ea typeface="Noto Sans SC"/>
                <a:cs typeface="Noto Sans SC"/>
              </a:rPr>
              <a:t>5</a:t>
            </a:r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89BFFB18-4CB5-6BE2-9B1E-49B4101293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b="1">
                <a:solidFill>
                  <a:srgbClr val="F4F8F4"/>
                </a:solidFill>
                <a:latin typeface="Noto Sans SC"/>
                <a:ea typeface="Noto Sans SC"/>
                <a:cs typeface="Noto Sans SC"/>
              </a:defRPr>
            </a:pPr>
            <a:r>
              <a:rPr sz="2800" b="1">
                <a:solidFill>
                  <a:srgbClr val="F4F8F4"/>
                </a:solidFill>
                <a:latin typeface="Noto Sans SC"/>
                <a:ea typeface="Noto Sans SC"/>
                <a:cs typeface="Noto Sans SC"/>
              </a:rPr>
              <a:t>问题与争议</a:t>
            </a:r>
          </a:p>
        </p:txBody>
      </p:sp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40C911A7-2999-5B10-850F-7785C571AE5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2032000"/>
            <a:ext cx="5537200" cy="1643063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Aft>
                <a:spcPts val="600"/>
              </a:spcAft>
              <a:buNone/>
              <a:defRPr>
                <a:solidFill>
                  <a:srgbClr val="F4F8F4"/>
                </a:solidFill>
                <a:latin typeface="Noto Sans SC"/>
                <a:ea typeface="Noto Sans SC"/>
                <a:cs typeface="Noto Sans SC"/>
              </a:defRPr>
            </a:pPr>
            <a:r>
              <a:rPr sz="2000" b="1">
                <a:solidFill>
                  <a:srgbClr val="F4F8F4"/>
                </a:solidFill>
                <a:latin typeface="Noto Sans SC"/>
                <a:ea typeface="Noto Sans SC"/>
                <a:cs typeface="Noto Sans SC"/>
              </a:rPr>
              <a:t>曝光压过叙事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>
                <a:solidFill>
                  <a:srgbClr val="F4F8F4"/>
                </a:solidFill>
                <a:latin typeface="Noto Sans SC"/>
                <a:ea typeface="Noto Sans SC"/>
                <a:cs typeface="Noto Sans SC"/>
              </a:defRPr>
            </a:pPr>
            <a:r>
              <a:rPr sz="1450">
                <a:solidFill>
                  <a:srgbClr val="F4F8F4"/>
                </a:solidFill>
                <a:latin typeface="Noto Sans SC"/>
                <a:ea typeface="Noto Sans SC"/>
                <a:cs typeface="Noto Sans SC"/>
              </a:rPr>
              <a:t>舒化奶等镜头缺少人物动机支撑，容易打断观影沉浸。</a:t>
            </a: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591DE77-626F-6364-307D-6A3CECC3E0AC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6256618" y="2032000"/>
            <a:ext cx="5537200" cy="1643063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Aft>
                <a:spcPts val="600"/>
              </a:spcAft>
              <a:buNone/>
              <a:defRPr>
                <a:solidFill>
                  <a:srgbClr val="F4F8F4"/>
                </a:solidFill>
                <a:latin typeface="Noto Sans SC"/>
                <a:ea typeface="Noto Sans SC"/>
                <a:cs typeface="Noto Sans SC"/>
              </a:defRPr>
            </a:pPr>
            <a:r>
              <a:rPr sz="2000" b="1">
                <a:solidFill>
                  <a:srgbClr val="F4F8F4"/>
                </a:solidFill>
                <a:latin typeface="Noto Sans SC"/>
                <a:ea typeface="Noto Sans SC"/>
                <a:cs typeface="Noto Sans SC"/>
              </a:rPr>
              <a:t>品牌效果不均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>
                <a:solidFill>
                  <a:srgbClr val="F4F8F4"/>
                </a:solidFill>
                <a:latin typeface="Noto Sans SC"/>
                <a:ea typeface="Noto Sans SC"/>
                <a:cs typeface="Noto Sans SC"/>
              </a:defRPr>
            </a:pPr>
            <a:r>
              <a:rPr sz="1450">
                <a:solidFill>
                  <a:srgbClr val="F4F8F4"/>
                </a:solidFill>
                <a:latin typeface="Noto Sans SC"/>
                <a:ea typeface="Noto Sans SC"/>
                <a:cs typeface="Noto Sans SC"/>
              </a:rPr>
              <a:t>联想兼有剧情和标识，邦威与TCL则过于隐蔽，识别度差异明显。</a:t>
            </a:r>
          </a:p>
        </p:txBody>
      </p:sp>
      <p:sp>
        <p:nvSpPr>
          <p:cNvPr id="4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FBFFE27-6CE4-D49E-8371-7F40817D2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016975"/>
            <a:ext cx="5537200" cy="1643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spcAft>
                <a:spcPts val="600"/>
              </a:spcAft>
              <a:buNone/>
              <a:defRPr>
                <a:solidFill>
                  <a:srgbClr val="F4F8F4"/>
                </a:solidFill>
                <a:latin typeface="Noto Sans SC"/>
                <a:ea typeface="Noto Sans SC"/>
                <a:cs typeface="Noto Sans SC"/>
              </a:defRPr>
            </a:pPr>
            <a:r>
              <a:rPr sz="2000" b="1">
                <a:solidFill>
                  <a:srgbClr val="F4F8F4"/>
                </a:solidFill>
                <a:latin typeface="Noto Sans SC"/>
                <a:ea typeface="Noto Sans SC"/>
                <a:cs typeface="Noto Sans SC"/>
              </a:rPr>
              <a:t>记忆不等于好感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>
                <a:solidFill>
                  <a:srgbClr val="F4F8F4"/>
                </a:solidFill>
                <a:latin typeface="Noto Sans SC"/>
                <a:ea typeface="Noto Sans SC"/>
                <a:cs typeface="Noto Sans SC"/>
              </a:defRPr>
            </a:pPr>
            <a:r>
              <a:rPr sz="1450">
                <a:solidFill>
                  <a:srgbClr val="F4F8F4"/>
                </a:solidFill>
                <a:latin typeface="Noto Sans SC"/>
                <a:ea typeface="Noto Sans SC"/>
                <a:cs typeface="Noto Sans SC"/>
              </a:rPr>
              <a:t>“只记得牛奶”说明品牌被看见，也可能伴随广告打扰感。</a:t>
            </a:r>
          </a:p>
        </p:txBody>
      </p:sp>
      <p:sp>
        <p:nvSpPr>
          <p:cNvPr id="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D6F50C40-7DBA-55A3-751E-00E97654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4016975"/>
            <a:ext cx="5537200" cy="1643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spcAft>
                <a:spcPts val="600"/>
              </a:spcAft>
              <a:buNone/>
              <a:defRPr>
                <a:solidFill>
                  <a:srgbClr val="F4F8F4"/>
                </a:solidFill>
                <a:latin typeface="Noto Sans SC"/>
                <a:ea typeface="Noto Sans SC"/>
                <a:cs typeface="Noto Sans SC"/>
              </a:defRPr>
            </a:pPr>
            <a:r>
              <a:rPr sz="2000" b="1">
                <a:solidFill>
                  <a:srgbClr val="F4F8F4"/>
                </a:solidFill>
                <a:latin typeface="Noto Sans SC"/>
                <a:ea typeface="Noto Sans SC"/>
                <a:cs typeface="Noto Sans SC"/>
              </a:rPr>
              <a:t>文化适配不足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>
                <a:solidFill>
                  <a:srgbClr val="F4F8F4"/>
                </a:solidFill>
                <a:latin typeface="Noto Sans SC"/>
                <a:ea typeface="Noto Sans SC"/>
                <a:cs typeface="Noto Sans SC"/>
              </a:defRPr>
            </a:pPr>
            <a:r>
              <a:rPr sz="1450">
                <a:solidFill>
                  <a:srgbClr val="F4F8F4"/>
                </a:solidFill>
                <a:latin typeface="Noto Sans SC"/>
                <a:ea typeface="Noto Sans SC"/>
                <a:cs typeface="Noto Sans SC"/>
              </a:rPr>
              <a:t>中国品牌进入美式叙事时，若缺少自然使用场景，容易显得生硬。</a:t>
            </a:r>
          </a:p>
        </p:txBody>
      </p:sp>
    </p:spTree>
    <p:extLst>
      <p:ext uri="{BB962C8B-B14F-4D97-AF65-F5344CB8AC3E}">
        <p14:creationId xmlns:p14="http://schemas.microsoft.com/office/powerpoint/2010/main" val="36014548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8C44867F-CEA9-06EF-47ED-8F63A6DAE6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787BCE7D-BEA2-12A4-00CE-1447A3C11BC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b="0">
                <a:solidFill>
                  <a:srgbClr val="F4F8F4"/>
                </a:solidFill>
                <a:latin typeface="Noto Sans SC"/>
                <a:ea typeface="Noto Sans SC"/>
                <a:cs typeface="Noto Sans SC"/>
              </a:defRPr>
            </a:pPr>
            <a:r>
              <a:rPr sz="850" b="0">
                <a:solidFill>
                  <a:srgbClr val="F4F8F4"/>
                </a:solidFill>
                <a:latin typeface="Noto Sans SC"/>
                <a:ea typeface="Noto Sans SC"/>
                <a:cs typeface="Noto Sans SC"/>
              </a:rPr>
              <a:t>6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51E053B-8CD7-DAF7-BA60-B58D00D61D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b="1">
                <a:solidFill>
                  <a:srgbClr val="F4F8F4"/>
                </a:solidFill>
                <a:latin typeface="Noto Sans SC"/>
                <a:ea typeface="Noto Sans SC"/>
                <a:cs typeface="Noto Sans SC"/>
              </a:defRPr>
            </a:pPr>
            <a:r>
              <a:rPr sz="2800" b="1">
                <a:solidFill>
                  <a:srgbClr val="F4F8F4"/>
                </a:solidFill>
                <a:latin typeface="Noto Sans SC"/>
                <a:ea typeface="Noto Sans SC"/>
                <a:cs typeface="Noto Sans SC"/>
              </a:rPr>
              <a:t>总结与启示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2B9D060-8F6B-685E-C699-7CF3FDA228BA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0388" y="1797928"/>
            <a:ext cx="5537200" cy="8651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b="1">
                <a:solidFill>
                  <a:srgbClr val="B7F34A"/>
                </a:solidFill>
                <a:latin typeface="Noto Sans SC"/>
                <a:ea typeface="Noto Sans SC"/>
                <a:cs typeface="Noto Sans SC"/>
              </a:defRPr>
            </a:pPr>
            <a:r>
              <a:rPr sz="2500" b="1">
                <a:solidFill>
                  <a:srgbClr val="B7F34A"/>
                </a:solidFill>
                <a:latin typeface="Noto Sans SC"/>
                <a:ea typeface="Noto Sans SC"/>
                <a:cs typeface="Noto Sans SC"/>
              </a:rPr>
              <a:t>植入效果的关键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0BD0609-EAC0-DFEC-8761-6C5A72DB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388" y="3065806"/>
            <a:ext cx="4774279" cy="20608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b="0">
                <a:solidFill>
                  <a:srgbClr val="F4F8F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F4F8F4"/>
                </a:solidFill>
                <a:latin typeface="Noto Sans SC"/>
                <a:ea typeface="Noto Sans SC"/>
                <a:cs typeface="Noto Sans SC"/>
              </a:rPr>
              <a:t>《变形金刚3》让国产品牌进入国际大片视野，也暴露了早期植入广告偏重曝光的问题。
好的植入需要让产品功能、角色行为与故事逻辑互相支持。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1D611070-583D-3F58-C192-8939D876E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3" y="1722438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28463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176A6DA9-A945-2CB8-E1DA-17DA3035F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8" y="2017370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spcAft>
                <a:spcPts val="450"/>
              </a:spcAft>
              <a:buNone/>
              <a:defRPr>
                <a:solidFill>
                  <a:srgbClr val="C8D5CE"/>
                </a:solidFill>
                <a:latin typeface="Noto Sans SC"/>
                <a:ea typeface="Noto Sans SC"/>
                <a:cs typeface="Noto Sans SC"/>
              </a:defRPr>
            </a:pPr>
            <a:r>
              <a:rPr sz="1850" b="1">
                <a:solidFill>
                  <a:srgbClr val="C8D5CE"/>
                </a:solidFill>
                <a:latin typeface="Noto Sans SC"/>
                <a:ea typeface="Noto Sans SC"/>
                <a:cs typeface="Noto Sans SC"/>
              </a:rPr>
              <a:t>可见度与自然度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>
                <a:solidFill>
                  <a:srgbClr val="C8D5CE"/>
                </a:solidFill>
                <a:latin typeface="Noto Sans SC"/>
                <a:ea typeface="Noto Sans SC"/>
                <a:cs typeface="Noto Sans SC"/>
              </a:defRPr>
            </a:pPr>
            <a:r>
              <a:rPr sz="1350">
                <a:solidFill>
                  <a:srgbClr val="C8D5CE"/>
                </a:solidFill>
                <a:latin typeface="Noto Sans SC"/>
                <a:ea typeface="Noto Sans SC"/>
                <a:cs typeface="Noto Sans SC"/>
              </a:rPr>
              <a:t>太隐蔽无法传达品牌，太直白容易引发抵触。镜头既要服务剧情，也要让品牌可识别。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7A99370F-1C2A-C7A9-A2D7-8EC8D6F73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3" y="3734118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28463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5BB779E3-29A4-71DB-4059-EE4248BE7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8" y="4029050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spcAft>
                <a:spcPts val="450"/>
              </a:spcAft>
              <a:buNone/>
              <a:defRPr>
                <a:solidFill>
                  <a:srgbClr val="C8D5CE"/>
                </a:solidFill>
                <a:latin typeface="Noto Sans SC"/>
                <a:ea typeface="Noto Sans SC"/>
                <a:cs typeface="Noto Sans SC"/>
              </a:defRPr>
            </a:pPr>
            <a:r>
              <a:rPr sz="1850" b="1">
                <a:solidFill>
                  <a:srgbClr val="C8D5CE"/>
                </a:solidFill>
                <a:latin typeface="Noto Sans SC"/>
                <a:ea typeface="Noto Sans SC"/>
                <a:cs typeface="Noto Sans SC"/>
              </a:rPr>
              <a:t>叙事适配优先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>
                <a:solidFill>
                  <a:srgbClr val="C8D5CE"/>
                </a:solidFill>
                <a:latin typeface="Noto Sans SC"/>
                <a:ea typeface="Noto Sans SC"/>
                <a:cs typeface="Noto Sans SC"/>
              </a:defRPr>
            </a:pPr>
            <a:r>
              <a:rPr sz="1350">
                <a:solidFill>
                  <a:srgbClr val="C8D5CE"/>
                </a:solidFill>
                <a:latin typeface="Noto Sans SC"/>
                <a:ea typeface="Noto Sans SC"/>
                <a:cs typeface="Noto Sans SC"/>
              </a:rPr>
              <a:t>选择大片前，应判断产品能否自然进入角色生活和场景，而不是只依靠高流量IP。</a:t>
            </a:r>
          </a:p>
        </p:txBody>
      </p:sp>
    </p:spTree>
    <p:extLst>
      <p:ext uri="{BB962C8B-B14F-4D97-AF65-F5344CB8AC3E}">
        <p14:creationId xmlns:p14="http://schemas.microsoft.com/office/powerpoint/2010/main" val="3331879134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2026-09-15T11:41:47.5230000Z</dcterms:created>
  <dcterms:modified xsi:type="dcterms:W3CDTF">2026-09-15T11:41:47.5230000Z</dcterms:modified>
</coreProperties>
</file>